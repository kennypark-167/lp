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8288000" cy="10287000"/>
  <p:notesSz cx="6858000" cy="9144000"/>
  <p:embeddedFontLst>
    <p:embeddedFont>
      <p:font typeface="Fira Sans" panose="020B0503050000020004" pitchFamily="34" charset="0"/>
      <p:regular r:id="rId10"/>
      <p:bold r:id="rId11"/>
      <p:italic r:id="rId12"/>
      <p:boldItalic r:id="rId13"/>
    </p:embeddedFont>
    <p:embeddedFont>
      <p:font typeface="Fira Sans Bold" panose="020B0803050000020004" charset="0"/>
      <p:regular r:id="rId14"/>
    </p:embeddedFont>
    <p:embeddedFont>
      <p:font typeface="Fira Sans Light" panose="020B0403050000020004" pitchFamily="34" charset="0"/>
      <p:regular r:id="rId15"/>
      <p:italic r:id="rId16"/>
    </p:embeddedFont>
    <p:embeddedFont>
      <p:font typeface="Helios Extended" panose="020B0604020202020204" charset="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45" d="100"/>
          <a:sy n="45" d="100"/>
        </p:scale>
        <p:origin x="816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font" Target="fonts/font8.fntdata"/><Relationship Id="rId2" Type="http://schemas.openxmlformats.org/officeDocument/2006/relationships/slide" Target="slides/slide1.xml"/><Relationship Id="rId16" Type="http://schemas.openxmlformats.org/officeDocument/2006/relationships/font" Target="fonts/font7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10" Type="http://schemas.openxmlformats.org/officeDocument/2006/relationships/font" Target="fonts/font1.fntdata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5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jpeg"/><Relationship Id="rId4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7D8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6419850" cy="10287000"/>
            <a:chOff x="0" y="0"/>
            <a:chExt cx="1690825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690825" cy="2709333"/>
            </a:xfrm>
            <a:custGeom>
              <a:avLst/>
              <a:gdLst/>
              <a:ahLst/>
              <a:cxnLst/>
              <a:rect l="l" t="t" r="r" b="b"/>
              <a:pathLst>
                <a:path w="1690825" h="2709333">
                  <a:moveTo>
                    <a:pt x="0" y="0"/>
                  </a:moveTo>
                  <a:lnTo>
                    <a:pt x="1690825" y="0"/>
                  </a:lnTo>
                  <a:lnTo>
                    <a:pt x="1690825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E4F6FF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1690825" cy="27569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666750" y="666750"/>
            <a:ext cx="7191375" cy="8966200"/>
            <a:chOff x="0" y="0"/>
            <a:chExt cx="1614733" cy="201324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614733" cy="2013248"/>
            </a:xfrm>
            <a:custGeom>
              <a:avLst/>
              <a:gdLst/>
              <a:ahLst/>
              <a:cxnLst/>
              <a:rect l="l" t="t" r="r" b="b"/>
              <a:pathLst>
                <a:path w="1614733" h="2013248">
                  <a:moveTo>
                    <a:pt x="0" y="0"/>
                  </a:moveTo>
                  <a:lnTo>
                    <a:pt x="1614733" y="0"/>
                  </a:lnTo>
                  <a:lnTo>
                    <a:pt x="1614733" y="2013248"/>
                  </a:lnTo>
                  <a:lnTo>
                    <a:pt x="0" y="2013248"/>
                  </a:lnTo>
                  <a:close/>
                </a:path>
              </a:pathLst>
            </a:custGeom>
            <a:blipFill>
              <a:blip r:embed="rId2"/>
              <a:stretch>
                <a:fillRect t="-128" b="-128"/>
              </a:stretch>
            </a:blipFill>
          </p:spPr>
        </p:sp>
      </p:grpSp>
      <p:grpSp>
        <p:nvGrpSpPr>
          <p:cNvPr id="7" name="Group 7"/>
          <p:cNvGrpSpPr/>
          <p:nvPr/>
        </p:nvGrpSpPr>
        <p:grpSpPr>
          <a:xfrm>
            <a:off x="18097862" y="0"/>
            <a:ext cx="190138" cy="10287000"/>
            <a:chOff x="0" y="0"/>
            <a:chExt cx="50077" cy="270933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50077" cy="2709333"/>
            </a:xfrm>
            <a:custGeom>
              <a:avLst/>
              <a:gdLst/>
              <a:ahLst/>
              <a:cxnLst/>
              <a:rect l="l" t="t" r="r" b="b"/>
              <a:pathLst>
                <a:path w="50077" h="2709333">
                  <a:moveTo>
                    <a:pt x="0" y="0"/>
                  </a:moveTo>
                  <a:lnTo>
                    <a:pt x="50077" y="0"/>
                  </a:lnTo>
                  <a:lnTo>
                    <a:pt x="50077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E4F6FF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47625"/>
              <a:ext cx="50077" cy="27569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3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8125293" y="4108414"/>
            <a:ext cx="6886575" cy="13952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0296"/>
              </a:lnSpc>
            </a:pPr>
            <a:r>
              <a:rPr lang="en-US" sz="9360" dirty="0" err="1">
                <a:solidFill>
                  <a:srgbClr val="FFFFFF"/>
                </a:solidFill>
                <a:latin typeface="Helios Extended"/>
                <a:ea typeface="Helios Extended"/>
                <a:cs typeface="Helios Extended"/>
                <a:sym typeface="Helios Extended"/>
              </a:rPr>
              <a:t>EduPlus</a:t>
            </a:r>
            <a:endParaRPr lang="en-US" sz="9360" dirty="0">
              <a:solidFill>
                <a:srgbClr val="FFFFFF"/>
              </a:solidFill>
              <a:latin typeface="Helios Extended"/>
              <a:ea typeface="Helios Extended"/>
              <a:cs typeface="Helios Extended"/>
              <a:sym typeface="Helios Extended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0429877" y="5295900"/>
            <a:ext cx="6225480" cy="8962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spcBef>
                <a:spcPct val="0"/>
              </a:spcBef>
            </a:pPr>
            <a:r>
              <a:rPr lang="en-US" sz="2600" dirty="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L’ÉDUCATION INFORMATIQUE SOUS UNE NOUVELLE FORME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24E42B98-63A5-3DFF-BA54-886D222EBFCE}"/>
              </a:ext>
            </a:extLst>
          </p:cNvPr>
          <p:cNvSpPr txBox="1"/>
          <p:nvPr/>
        </p:nvSpPr>
        <p:spPr>
          <a:xfrm>
            <a:off x="7891795" y="635738"/>
            <a:ext cx="8305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400" dirty="0">
                <a:solidFill>
                  <a:schemeClr val="bg1"/>
                </a:solidFill>
                <a:latin typeface="Fira Sans Bold" panose="020B0604020202020204" charset="0"/>
              </a:rPr>
              <a:t>CODENOVA</a:t>
            </a:r>
            <a:endParaRPr lang="fr-FR" sz="4800" dirty="0">
              <a:solidFill>
                <a:schemeClr val="bg1"/>
              </a:solidFill>
              <a:latin typeface="Fira Sans Bold" panose="020B0604020202020204" charset="0"/>
            </a:endParaRP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F360225A-A731-BC80-0EE0-EF614EC50105}"/>
              </a:ext>
            </a:extLst>
          </p:cNvPr>
          <p:cNvSpPr txBox="1"/>
          <p:nvPr/>
        </p:nvSpPr>
        <p:spPr>
          <a:xfrm>
            <a:off x="16021412" y="8191500"/>
            <a:ext cx="207645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Tx/>
              <a:buChar char="-"/>
            </a:pPr>
            <a:r>
              <a:rPr lang="fr-FR" sz="2400" dirty="0">
                <a:solidFill>
                  <a:schemeClr val="bg1"/>
                </a:solidFill>
                <a:latin typeface="Fira Sans Light" panose="020B0403050000020004" pitchFamily="34" charset="0"/>
              </a:rPr>
              <a:t>Anthony</a:t>
            </a:r>
          </a:p>
          <a:p>
            <a:pPr marL="342900" indent="-342900">
              <a:buFontTx/>
              <a:buChar char="-"/>
            </a:pPr>
            <a:r>
              <a:rPr lang="fr-FR" sz="2400" dirty="0" err="1">
                <a:solidFill>
                  <a:schemeClr val="bg1"/>
                </a:solidFill>
                <a:latin typeface="Fira Sans Light" panose="020B0403050000020004" pitchFamily="34" charset="0"/>
              </a:rPr>
              <a:t>Herilanja</a:t>
            </a:r>
            <a:endParaRPr lang="fr-FR" sz="2400" dirty="0">
              <a:solidFill>
                <a:schemeClr val="bg1"/>
              </a:solidFill>
              <a:latin typeface="Fira Sans Light" panose="020B0403050000020004" pitchFamily="34" charset="0"/>
            </a:endParaRPr>
          </a:p>
          <a:p>
            <a:pPr marL="342900" indent="-342900">
              <a:buFontTx/>
              <a:buChar char="-"/>
            </a:pPr>
            <a:r>
              <a:rPr lang="fr-FR" sz="2400" dirty="0" err="1">
                <a:solidFill>
                  <a:schemeClr val="bg1"/>
                </a:solidFill>
                <a:latin typeface="Fira Sans Light" panose="020B0403050000020004" pitchFamily="34" charset="0"/>
              </a:rPr>
              <a:t>Hajaina</a:t>
            </a:r>
            <a:endParaRPr lang="fr-FR" sz="2400" dirty="0">
              <a:solidFill>
                <a:schemeClr val="bg1"/>
              </a:solidFill>
              <a:latin typeface="Fira Sans Light" panose="020B0403050000020004" pitchFamily="34" charset="0"/>
            </a:endParaRPr>
          </a:p>
          <a:p>
            <a:pPr marL="342900" indent="-342900">
              <a:buFontTx/>
              <a:buChar char="-"/>
            </a:pPr>
            <a:r>
              <a:rPr lang="fr-FR" sz="2400" dirty="0">
                <a:solidFill>
                  <a:schemeClr val="bg1"/>
                </a:solidFill>
                <a:latin typeface="Fira Sans Light" panose="020B0403050000020004" pitchFamily="34" charset="0"/>
              </a:rPr>
              <a:t>Mendrika</a:t>
            </a:r>
          </a:p>
          <a:p>
            <a:pPr marL="342900" indent="-342900">
              <a:buFontTx/>
              <a:buChar char="-"/>
            </a:pPr>
            <a:r>
              <a:rPr lang="fr-FR" sz="2400" dirty="0" err="1">
                <a:solidFill>
                  <a:schemeClr val="bg1"/>
                </a:solidFill>
                <a:latin typeface="Fira Sans Light" panose="020B0403050000020004" pitchFamily="34" charset="0"/>
              </a:rPr>
              <a:t>Liana</a:t>
            </a:r>
            <a:endParaRPr lang="fr-FR" sz="2400" dirty="0">
              <a:solidFill>
                <a:schemeClr val="bg1"/>
              </a:solidFill>
              <a:latin typeface="Fira Sans Light" panose="020B04030500000200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7D8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264542" y="3238500"/>
            <a:ext cx="4841358" cy="2330745"/>
            <a:chOff x="0" y="0"/>
            <a:chExt cx="1423819" cy="70195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423819" cy="701953"/>
            </a:xfrm>
            <a:custGeom>
              <a:avLst/>
              <a:gdLst/>
              <a:ahLst/>
              <a:cxnLst/>
              <a:rect l="l" t="t" r="r" b="b"/>
              <a:pathLst>
                <a:path w="1423819" h="701953">
                  <a:moveTo>
                    <a:pt x="0" y="0"/>
                  </a:moveTo>
                  <a:lnTo>
                    <a:pt x="1423819" y="0"/>
                  </a:lnTo>
                  <a:lnTo>
                    <a:pt x="1423819" y="701953"/>
                  </a:lnTo>
                  <a:lnTo>
                    <a:pt x="0" y="701953"/>
                  </a:lnTo>
                  <a:close/>
                </a:path>
              </a:pathLst>
            </a:custGeom>
            <a:blipFill>
              <a:blip r:embed="rId2"/>
              <a:stretch>
                <a:fillRect l="-178" r="-178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4264542" y="6776181"/>
            <a:ext cx="4841358" cy="2330745"/>
            <a:chOff x="0" y="0"/>
            <a:chExt cx="1423819" cy="701953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423819" cy="701953"/>
            </a:xfrm>
            <a:custGeom>
              <a:avLst/>
              <a:gdLst/>
              <a:ahLst/>
              <a:cxnLst/>
              <a:rect l="l" t="t" r="r" b="b"/>
              <a:pathLst>
                <a:path w="1423819" h="701953">
                  <a:moveTo>
                    <a:pt x="0" y="0"/>
                  </a:moveTo>
                  <a:lnTo>
                    <a:pt x="1423819" y="0"/>
                  </a:lnTo>
                  <a:lnTo>
                    <a:pt x="1423819" y="701953"/>
                  </a:lnTo>
                  <a:lnTo>
                    <a:pt x="0" y="701953"/>
                  </a:lnTo>
                  <a:close/>
                </a:path>
              </a:pathLst>
            </a:custGeom>
            <a:blipFill>
              <a:blip r:embed="rId3"/>
              <a:stretch>
                <a:fillRect l="-178" r="-178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10017642" y="3238500"/>
            <a:ext cx="4841358" cy="2330745"/>
            <a:chOff x="0" y="0"/>
            <a:chExt cx="1423819" cy="701953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423819" cy="701953"/>
            </a:xfrm>
            <a:custGeom>
              <a:avLst/>
              <a:gdLst/>
              <a:ahLst/>
              <a:cxnLst/>
              <a:rect l="l" t="t" r="r" b="b"/>
              <a:pathLst>
                <a:path w="1423819" h="701953">
                  <a:moveTo>
                    <a:pt x="0" y="0"/>
                  </a:moveTo>
                  <a:lnTo>
                    <a:pt x="1423819" y="0"/>
                  </a:lnTo>
                  <a:lnTo>
                    <a:pt x="1423819" y="701953"/>
                  </a:lnTo>
                  <a:lnTo>
                    <a:pt x="0" y="701953"/>
                  </a:lnTo>
                  <a:close/>
                </a:path>
              </a:pathLst>
            </a:custGeom>
            <a:blipFill>
              <a:blip r:embed="rId4"/>
              <a:stretch>
                <a:fillRect l="-178" r="-178"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>
            <a:off x="10017642" y="6776181"/>
            <a:ext cx="4841358" cy="2330745"/>
            <a:chOff x="0" y="0"/>
            <a:chExt cx="1423819" cy="701953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423819" cy="701953"/>
            </a:xfrm>
            <a:custGeom>
              <a:avLst/>
              <a:gdLst/>
              <a:ahLst/>
              <a:cxnLst/>
              <a:rect l="l" t="t" r="r" b="b"/>
              <a:pathLst>
                <a:path w="1423819" h="701953">
                  <a:moveTo>
                    <a:pt x="0" y="0"/>
                  </a:moveTo>
                  <a:lnTo>
                    <a:pt x="1423819" y="0"/>
                  </a:lnTo>
                  <a:lnTo>
                    <a:pt x="1423819" y="701953"/>
                  </a:lnTo>
                  <a:lnTo>
                    <a:pt x="0" y="701953"/>
                  </a:lnTo>
                  <a:close/>
                </a:path>
              </a:pathLst>
            </a:custGeom>
            <a:blipFill>
              <a:blip r:embed="rId5"/>
              <a:stretch>
                <a:fillRect l="-178" r="-178"/>
              </a:stretch>
            </a:blipFill>
          </p:spPr>
        </p:sp>
      </p:grpSp>
      <p:grpSp>
        <p:nvGrpSpPr>
          <p:cNvPr id="10" name="Group 10"/>
          <p:cNvGrpSpPr/>
          <p:nvPr/>
        </p:nvGrpSpPr>
        <p:grpSpPr>
          <a:xfrm rot="-10800000">
            <a:off x="-1" y="0"/>
            <a:ext cx="2057401" cy="10287000"/>
            <a:chOff x="0" y="0"/>
            <a:chExt cx="49982" cy="2709333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49982" cy="2709333"/>
            </a:xfrm>
            <a:custGeom>
              <a:avLst/>
              <a:gdLst/>
              <a:ahLst/>
              <a:cxnLst/>
              <a:rect l="l" t="t" r="r" b="b"/>
              <a:pathLst>
                <a:path w="49982" h="2709333">
                  <a:moveTo>
                    <a:pt x="0" y="0"/>
                  </a:moveTo>
                  <a:lnTo>
                    <a:pt x="49982" y="0"/>
                  </a:lnTo>
                  <a:lnTo>
                    <a:pt x="4998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E4F6FF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-47625"/>
              <a:ext cx="49982" cy="27569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3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3959741" y="5647124"/>
            <a:ext cx="5146157" cy="73238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lvl="0" indent="-342900">
              <a:lnSpc>
                <a:spcPts val="2940"/>
              </a:lnSpc>
              <a:buFont typeface="Arial" panose="020B0604020202020204" pitchFamily="34" charset="0"/>
              <a:buChar char="•"/>
            </a:pPr>
            <a:r>
              <a:rPr lang="fr-FR" sz="2000" dirty="0">
                <a:solidFill>
                  <a:schemeClr val="bg1"/>
                </a:solidFill>
                <a:latin typeface="Fira Sans Bold" panose="020B0604020202020204" charset="0"/>
              </a:rPr>
              <a:t>DIFFICULTÉ D’ACCÈS À DES FORMATIONS ADAPTÉES</a:t>
            </a:r>
            <a:endParaRPr lang="en-US" sz="2000" b="1" dirty="0">
              <a:solidFill>
                <a:schemeClr val="bg1"/>
              </a:solidFill>
              <a:latin typeface="Fira Sans Bold" panose="020B0604020202020204" charset="0"/>
              <a:ea typeface="Fira Sans Bold"/>
              <a:cs typeface="Fira Sans Bold"/>
              <a:sym typeface="Fira Sans Bold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3959740" y="9171578"/>
            <a:ext cx="5146157" cy="73231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lvl="0" indent="-342900">
              <a:lnSpc>
                <a:spcPts val="294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bg1"/>
                </a:solidFill>
                <a:latin typeface="Fira Sans Bold" panose="020B0803050000020004" charset="0"/>
                <a:ea typeface="Fira Sans Bold"/>
                <a:cs typeface="Fira Sans Bold"/>
                <a:sym typeface="Fira Sans Bold"/>
              </a:rPr>
              <a:t>DISTRACTIONS ET </a:t>
            </a:r>
            <a:r>
              <a:rPr lang="fr-FR" sz="2000" dirty="0">
                <a:solidFill>
                  <a:schemeClr val="bg1"/>
                </a:solidFill>
                <a:latin typeface="Fira Sans Bold" panose="020B0803050000020004" charset="0"/>
              </a:rPr>
              <a:t>ABSENCE DE PRATIQUE RÉGULIÈRE</a:t>
            </a:r>
            <a:endParaRPr lang="en-US" sz="2000" b="1" dirty="0">
              <a:solidFill>
                <a:schemeClr val="bg1"/>
              </a:solidFill>
              <a:latin typeface="Fira Sans Bold" panose="020B0803050000020004" charset="0"/>
              <a:ea typeface="Fira Sans Bold"/>
              <a:cs typeface="Fira Sans Bold"/>
              <a:sym typeface="Fira Sans Bold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9712842" y="9208533"/>
            <a:ext cx="5146158" cy="3505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lvl="0" indent="-342900">
              <a:lnSpc>
                <a:spcPts val="2940"/>
              </a:lnSpc>
              <a:buFont typeface="Arial" panose="020B0604020202020204" pitchFamily="34" charset="0"/>
              <a:buChar char="•"/>
            </a:pPr>
            <a:r>
              <a:rPr lang="fr-FR" sz="2000" dirty="0">
                <a:solidFill>
                  <a:schemeClr val="bg1"/>
                </a:solidFill>
                <a:latin typeface="Fira Sans Bold" panose="020B0803050000020004" charset="0"/>
              </a:rPr>
              <a:t>MANQUE DE MOYENS FINANCIERS</a:t>
            </a:r>
            <a:endParaRPr lang="en-US" sz="2000" b="1" dirty="0">
              <a:solidFill>
                <a:schemeClr val="bg1"/>
              </a:solidFill>
              <a:latin typeface="Fira Sans Bold" panose="020B0803050000020004" charset="0"/>
              <a:ea typeface="Fira Sans Bold"/>
              <a:cs typeface="Fira Sans Bold"/>
              <a:sym typeface="Fira Sans Bold"/>
            </a:endParaRPr>
          </a:p>
        </p:txBody>
      </p:sp>
      <p:sp>
        <p:nvSpPr>
          <p:cNvPr id="28" name="ZoneTexte 27">
            <a:extLst>
              <a:ext uri="{FF2B5EF4-FFF2-40B4-BE49-F238E27FC236}">
                <a16:creationId xmlns:a16="http://schemas.microsoft.com/office/drawing/2014/main" id="{180A09DE-FBB9-F3E6-79F3-A277B1874BCD}"/>
              </a:ext>
            </a:extLst>
          </p:cNvPr>
          <p:cNvSpPr txBox="1"/>
          <p:nvPr/>
        </p:nvSpPr>
        <p:spPr>
          <a:xfrm>
            <a:off x="9712842" y="5616129"/>
            <a:ext cx="5146158" cy="707886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>
                <a:solidFill>
                  <a:schemeClr val="bg1"/>
                </a:solidFill>
                <a:latin typeface="Fira Sans Bold" panose="020B0604020202020204" charset="0"/>
              </a:rPr>
              <a:t>MANQUE D’INFORMATIONS FIABLES ET ACCESSIBLES</a:t>
            </a:r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7881C59E-9B38-3B7D-8D75-FBBBBE27ECE4}"/>
              </a:ext>
            </a:extLst>
          </p:cNvPr>
          <p:cNvSpPr txBox="1"/>
          <p:nvPr/>
        </p:nvSpPr>
        <p:spPr>
          <a:xfrm>
            <a:off x="3124200" y="287278"/>
            <a:ext cx="1257300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0" dirty="0">
                <a:solidFill>
                  <a:schemeClr val="bg1"/>
                </a:solidFill>
                <a:latin typeface="Helios Extended" panose="020B0604020202020204" charset="0"/>
              </a:rPr>
              <a:t>1. Les problèmes sur l’éducation générale</a:t>
            </a:r>
          </a:p>
        </p:txBody>
      </p:sp>
      <p:grpSp>
        <p:nvGrpSpPr>
          <p:cNvPr id="30" name="Group 10">
            <a:extLst>
              <a:ext uri="{FF2B5EF4-FFF2-40B4-BE49-F238E27FC236}">
                <a16:creationId xmlns:a16="http://schemas.microsoft.com/office/drawing/2014/main" id="{8CA8B0BC-0CE5-6BCB-2C3C-E1060AE55188}"/>
              </a:ext>
            </a:extLst>
          </p:cNvPr>
          <p:cNvGrpSpPr/>
          <p:nvPr/>
        </p:nvGrpSpPr>
        <p:grpSpPr>
          <a:xfrm rot="-10800000">
            <a:off x="18135599" y="0"/>
            <a:ext cx="211768" cy="10287000"/>
            <a:chOff x="0" y="0"/>
            <a:chExt cx="49982" cy="2709333"/>
          </a:xfrm>
        </p:grpSpPr>
        <p:sp>
          <p:nvSpPr>
            <p:cNvPr id="31" name="Freeform 11">
              <a:extLst>
                <a:ext uri="{FF2B5EF4-FFF2-40B4-BE49-F238E27FC236}">
                  <a16:creationId xmlns:a16="http://schemas.microsoft.com/office/drawing/2014/main" id="{6064D77C-7472-1866-BF77-4AB8122E2A2F}"/>
                </a:ext>
              </a:extLst>
            </p:cNvPr>
            <p:cNvSpPr/>
            <p:nvPr/>
          </p:nvSpPr>
          <p:spPr>
            <a:xfrm>
              <a:off x="0" y="0"/>
              <a:ext cx="49982" cy="2709333"/>
            </a:xfrm>
            <a:custGeom>
              <a:avLst/>
              <a:gdLst/>
              <a:ahLst/>
              <a:cxnLst/>
              <a:rect l="l" t="t" r="r" b="b"/>
              <a:pathLst>
                <a:path w="49982" h="2709333">
                  <a:moveTo>
                    <a:pt x="0" y="0"/>
                  </a:moveTo>
                  <a:lnTo>
                    <a:pt x="49982" y="0"/>
                  </a:lnTo>
                  <a:lnTo>
                    <a:pt x="4998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E4F6FF"/>
            </a:solidFill>
          </p:spPr>
        </p:sp>
        <p:sp>
          <p:nvSpPr>
            <p:cNvPr id="32" name="TextBox 12">
              <a:extLst>
                <a:ext uri="{FF2B5EF4-FFF2-40B4-BE49-F238E27FC236}">
                  <a16:creationId xmlns:a16="http://schemas.microsoft.com/office/drawing/2014/main" id="{65593963-320A-38C6-BBF5-DF35328C2A8B}"/>
                </a:ext>
              </a:extLst>
            </p:cNvPr>
            <p:cNvSpPr txBox="1"/>
            <p:nvPr/>
          </p:nvSpPr>
          <p:spPr>
            <a:xfrm>
              <a:off x="0" y="-47625"/>
              <a:ext cx="49982" cy="27569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359"/>
                </a:lnSpc>
                <a:spcBef>
                  <a:spcPct val="0"/>
                </a:spcBef>
              </a:pPr>
              <a:endParaRPr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7D8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219200" y="931579"/>
            <a:ext cx="12973050" cy="112851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8800"/>
              </a:lnSpc>
              <a:spcBef>
                <a:spcPct val="0"/>
              </a:spcBef>
            </a:pPr>
            <a:r>
              <a:rPr lang="en-US" sz="8000" dirty="0">
                <a:solidFill>
                  <a:srgbClr val="FFFFFF"/>
                </a:solidFill>
                <a:latin typeface="Helios Extended"/>
                <a:ea typeface="Helios Extended"/>
                <a:cs typeface="Helios Extended"/>
                <a:sym typeface="Helios Extended"/>
              </a:rPr>
              <a:t>2. Solution </a:t>
            </a:r>
            <a:r>
              <a:rPr lang="en-US" sz="8000" dirty="0" err="1">
                <a:solidFill>
                  <a:srgbClr val="FFFFFF"/>
                </a:solidFill>
                <a:latin typeface="Helios Extended"/>
                <a:ea typeface="Helios Extended"/>
                <a:cs typeface="Helios Extended"/>
                <a:sym typeface="Helios Extended"/>
              </a:rPr>
              <a:t>Proposée</a:t>
            </a:r>
            <a:r>
              <a:rPr lang="en-US" sz="8000" dirty="0">
                <a:solidFill>
                  <a:srgbClr val="FFFFFF"/>
                </a:solidFill>
                <a:latin typeface="Helios Extended"/>
                <a:ea typeface="Helios Extended"/>
                <a:cs typeface="Helios Extended"/>
                <a:sym typeface="Helios Extended"/>
              </a:rPr>
              <a:t>: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752600" y="4250094"/>
            <a:ext cx="6886575" cy="90306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>
              <a:lnSpc>
                <a:spcPts val="3640"/>
              </a:lnSpc>
            </a:pPr>
            <a:r>
              <a:rPr lang="fr-FR" sz="2800" dirty="0">
                <a:solidFill>
                  <a:schemeClr val="bg1"/>
                </a:solidFill>
                <a:latin typeface="Fira Sans Bold" panose="020B0803050000020004" charset="0"/>
              </a:rPr>
              <a:t>MISE À DISPOSITION D’INFORMATIONS FIABLES</a:t>
            </a:r>
            <a:endParaRPr lang="en-US" sz="2600" dirty="0">
              <a:solidFill>
                <a:schemeClr val="bg1"/>
              </a:solidFill>
              <a:latin typeface="Fira Sans Bold" panose="020B0803050000020004" charset="0"/>
              <a:ea typeface="Fira Sans Bold"/>
              <a:cs typeface="Fira Sans Bold"/>
              <a:sym typeface="Fira Sans Bold"/>
            </a:endParaRPr>
          </a:p>
        </p:txBody>
      </p:sp>
      <p:grpSp>
        <p:nvGrpSpPr>
          <p:cNvPr id="9" name="Group 9"/>
          <p:cNvGrpSpPr/>
          <p:nvPr/>
        </p:nvGrpSpPr>
        <p:grpSpPr>
          <a:xfrm rot="5400000">
            <a:off x="9068162" y="1029062"/>
            <a:ext cx="189775" cy="18326100"/>
            <a:chOff x="0" y="0"/>
            <a:chExt cx="49982" cy="4826627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49982" cy="4826627"/>
            </a:xfrm>
            <a:custGeom>
              <a:avLst/>
              <a:gdLst/>
              <a:ahLst/>
              <a:cxnLst/>
              <a:rect l="l" t="t" r="r" b="b"/>
              <a:pathLst>
                <a:path w="49982" h="4826627">
                  <a:moveTo>
                    <a:pt x="0" y="0"/>
                  </a:moveTo>
                  <a:lnTo>
                    <a:pt x="49982" y="0"/>
                  </a:lnTo>
                  <a:lnTo>
                    <a:pt x="49982" y="4826627"/>
                  </a:lnTo>
                  <a:lnTo>
                    <a:pt x="0" y="4826627"/>
                  </a:lnTo>
                  <a:close/>
                </a:path>
              </a:pathLst>
            </a:custGeom>
            <a:solidFill>
              <a:srgbClr val="E4F6FF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47625"/>
              <a:ext cx="49982" cy="487425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cxnSp>
        <p:nvCxnSpPr>
          <p:cNvPr id="13" name="Connecteur droit 12">
            <a:extLst>
              <a:ext uri="{FF2B5EF4-FFF2-40B4-BE49-F238E27FC236}">
                <a16:creationId xmlns:a16="http://schemas.microsoft.com/office/drawing/2014/main" id="{AE0F94B2-0224-C969-73D9-04F6970A2205}"/>
              </a:ext>
            </a:extLst>
          </p:cNvPr>
          <p:cNvCxnSpPr>
            <a:cxnSpLocks/>
          </p:cNvCxnSpPr>
          <p:nvPr/>
        </p:nvCxnSpPr>
        <p:spPr>
          <a:xfrm>
            <a:off x="1619250" y="3988156"/>
            <a:ext cx="6553200" cy="36492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Ellipse 13">
            <a:extLst>
              <a:ext uri="{FF2B5EF4-FFF2-40B4-BE49-F238E27FC236}">
                <a16:creationId xmlns:a16="http://schemas.microsoft.com/office/drawing/2014/main" id="{75BD4942-3DED-44AD-CB6F-4F447FD1183B}"/>
              </a:ext>
            </a:extLst>
          </p:cNvPr>
          <p:cNvSpPr/>
          <p:nvPr/>
        </p:nvSpPr>
        <p:spPr>
          <a:xfrm>
            <a:off x="1619250" y="3312436"/>
            <a:ext cx="533400" cy="534840"/>
          </a:xfrm>
          <a:prstGeom prst="ellipse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</a:rPr>
              <a:t>1.</a:t>
            </a:r>
          </a:p>
        </p:txBody>
      </p:sp>
      <p:sp>
        <p:nvSpPr>
          <p:cNvPr id="17" name="TextBox 5">
            <a:extLst>
              <a:ext uri="{FF2B5EF4-FFF2-40B4-BE49-F238E27FC236}">
                <a16:creationId xmlns:a16="http://schemas.microsoft.com/office/drawing/2014/main" id="{09CB7427-AF77-D9A8-7619-53A8226759F2}"/>
              </a:ext>
            </a:extLst>
          </p:cNvPr>
          <p:cNvSpPr txBox="1"/>
          <p:nvPr/>
        </p:nvSpPr>
        <p:spPr>
          <a:xfrm>
            <a:off x="9906000" y="4240496"/>
            <a:ext cx="6886575" cy="90300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>
              <a:lnSpc>
                <a:spcPts val="3640"/>
              </a:lnSpc>
            </a:pPr>
            <a:r>
              <a:rPr lang="fr-FR" sz="2800" dirty="0">
                <a:solidFill>
                  <a:schemeClr val="bg1"/>
                </a:solidFill>
                <a:latin typeface="Fira Sans Bold" panose="020B0803050000020004" charset="0"/>
              </a:rPr>
              <a:t>PROPOSITIONS DE FORMATIONS PRATIQUES ADAPTÉES</a:t>
            </a:r>
            <a:endParaRPr lang="en-US" sz="2600" dirty="0">
              <a:solidFill>
                <a:schemeClr val="bg1"/>
              </a:solidFill>
              <a:latin typeface="Fira Sans Bold" panose="020B0803050000020004" charset="0"/>
              <a:ea typeface="Fira Sans Bold"/>
              <a:cs typeface="Fira Sans Bold"/>
              <a:sym typeface="Fira Sans Bold"/>
            </a:endParaRPr>
          </a:p>
        </p:txBody>
      </p:sp>
      <p:cxnSp>
        <p:nvCxnSpPr>
          <p:cNvPr id="18" name="Connecteur droit 17">
            <a:extLst>
              <a:ext uri="{FF2B5EF4-FFF2-40B4-BE49-F238E27FC236}">
                <a16:creationId xmlns:a16="http://schemas.microsoft.com/office/drawing/2014/main" id="{43E0557F-B2B5-0F04-A981-0793E1602E4C}"/>
              </a:ext>
            </a:extLst>
          </p:cNvPr>
          <p:cNvCxnSpPr>
            <a:cxnSpLocks/>
          </p:cNvCxnSpPr>
          <p:nvPr/>
        </p:nvCxnSpPr>
        <p:spPr>
          <a:xfrm>
            <a:off x="9772650" y="3978558"/>
            <a:ext cx="6553200" cy="36492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Ellipse 18">
            <a:extLst>
              <a:ext uri="{FF2B5EF4-FFF2-40B4-BE49-F238E27FC236}">
                <a16:creationId xmlns:a16="http://schemas.microsoft.com/office/drawing/2014/main" id="{F36AFECA-07C0-98D5-CAB7-E2646C3A6097}"/>
              </a:ext>
            </a:extLst>
          </p:cNvPr>
          <p:cNvSpPr/>
          <p:nvPr/>
        </p:nvSpPr>
        <p:spPr>
          <a:xfrm>
            <a:off x="9772650" y="3302838"/>
            <a:ext cx="533400" cy="534840"/>
          </a:xfrm>
          <a:prstGeom prst="ellipse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</a:rPr>
              <a:t>2.</a:t>
            </a:r>
          </a:p>
        </p:txBody>
      </p:sp>
      <p:sp>
        <p:nvSpPr>
          <p:cNvPr id="20" name="TextBox 5">
            <a:extLst>
              <a:ext uri="{FF2B5EF4-FFF2-40B4-BE49-F238E27FC236}">
                <a16:creationId xmlns:a16="http://schemas.microsoft.com/office/drawing/2014/main" id="{CF782F18-3ABA-B9B9-8E9C-3DCCEB96DBBF}"/>
              </a:ext>
            </a:extLst>
          </p:cNvPr>
          <p:cNvSpPr txBox="1"/>
          <p:nvPr/>
        </p:nvSpPr>
        <p:spPr>
          <a:xfrm>
            <a:off x="1733550" y="6813832"/>
            <a:ext cx="6886575" cy="90306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>
              <a:lnSpc>
                <a:spcPts val="3640"/>
              </a:lnSpc>
            </a:pPr>
            <a:r>
              <a:rPr lang="fr-FR" sz="2800" dirty="0">
                <a:solidFill>
                  <a:schemeClr val="bg1"/>
                </a:solidFill>
                <a:latin typeface="Fira Sans Bold" panose="020B0803050000020004" charset="0"/>
              </a:rPr>
              <a:t>CRÉATION D’UNE PLATEFORME 100 % GRATUITE</a:t>
            </a:r>
            <a:endParaRPr lang="en-US" sz="2600" dirty="0">
              <a:solidFill>
                <a:schemeClr val="bg1"/>
              </a:solidFill>
              <a:latin typeface="Fira Sans Bold" panose="020B0803050000020004" charset="0"/>
              <a:ea typeface="Fira Sans Bold"/>
              <a:cs typeface="Fira Sans Bold"/>
              <a:sym typeface="Fira Sans Bold"/>
            </a:endParaRPr>
          </a:p>
        </p:txBody>
      </p:sp>
      <p:cxnSp>
        <p:nvCxnSpPr>
          <p:cNvPr id="21" name="Connecteur droit 20">
            <a:extLst>
              <a:ext uri="{FF2B5EF4-FFF2-40B4-BE49-F238E27FC236}">
                <a16:creationId xmlns:a16="http://schemas.microsoft.com/office/drawing/2014/main" id="{701D8BA0-8851-22A0-9E7D-9EBA59A3F105}"/>
              </a:ext>
            </a:extLst>
          </p:cNvPr>
          <p:cNvCxnSpPr>
            <a:cxnSpLocks/>
          </p:cNvCxnSpPr>
          <p:nvPr/>
        </p:nvCxnSpPr>
        <p:spPr>
          <a:xfrm>
            <a:off x="1600200" y="6551894"/>
            <a:ext cx="6553200" cy="36492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Ellipse 21">
            <a:extLst>
              <a:ext uri="{FF2B5EF4-FFF2-40B4-BE49-F238E27FC236}">
                <a16:creationId xmlns:a16="http://schemas.microsoft.com/office/drawing/2014/main" id="{524B37C0-BB1A-9212-B361-657C15E14023}"/>
              </a:ext>
            </a:extLst>
          </p:cNvPr>
          <p:cNvSpPr/>
          <p:nvPr/>
        </p:nvSpPr>
        <p:spPr>
          <a:xfrm>
            <a:off x="1600200" y="5876174"/>
            <a:ext cx="533400" cy="534840"/>
          </a:xfrm>
          <a:prstGeom prst="ellipse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</a:rPr>
              <a:t>3.</a:t>
            </a:r>
          </a:p>
        </p:txBody>
      </p:sp>
      <p:grpSp>
        <p:nvGrpSpPr>
          <p:cNvPr id="23" name="Group 10">
            <a:extLst>
              <a:ext uri="{FF2B5EF4-FFF2-40B4-BE49-F238E27FC236}">
                <a16:creationId xmlns:a16="http://schemas.microsoft.com/office/drawing/2014/main" id="{753A3D4B-646D-172D-1075-7143378ADBB8}"/>
              </a:ext>
            </a:extLst>
          </p:cNvPr>
          <p:cNvGrpSpPr/>
          <p:nvPr/>
        </p:nvGrpSpPr>
        <p:grpSpPr>
          <a:xfrm rot="-10800000">
            <a:off x="-2" y="0"/>
            <a:ext cx="666751" cy="10287000"/>
            <a:chOff x="0" y="0"/>
            <a:chExt cx="49982" cy="2709333"/>
          </a:xfrm>
        </p:grpSpPr>
        <p:sp>
          <p:nvSpPr>
            <p:cNvPr id="24" name="Freeform 11">
              <a:extLst>
                <a:ext uri="{FF2B5EF4-FFF2-40B4-BE49-F238E27FC236}">
                  <a16:creationId xmlns:a16="http://schemas.microsoft.com/office/drawing/2014/main" id="{ED74B3F5-52BC-6C77-BF1A-D3EE6DEC9C1B}"/>
                </a:ext>
              </a:extLst>
            </p:cNvPr>
            <p:cNvSpPr/>
            <p:nvPr/>
          </p:nvSpPr>
          <p:spPr>
            <a:xfrm>
              <a:off x="0" y="0"/>
              <a:ext cx="49982" cy="2709333"/>
            </a:xfrm>
            <a:custGeom>
              <a:avLst/>
              <a:gdLst/>
              <a:ahLst/>
              <a:cxnLst/>
              <a:rect l="l" t="t" r="r" b="b"/>
              <a:pathLst>
                <a:path w="49982" h="2709333">
                  <a:moveTo>
                    <a:pt x="0" y="0"/>
                  </a:moveTo>
                  <a:lnTo>
                    <a:pt x="49982" y="0"/>
                  </a:lnTo>
                  <a:lnTo>
                    <a:pt x="4998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E4F6FF"/>
            </a:solidFill>
          </p:spPr>
        </p:sp>
        <p:sp>
          <p:nvSpPr>
            <p:cNvPr id="25" name="TextBox 12">
              <a:extLst>
                <a:ext uri="{FF2B5EF4-FFF2-40B4-BE49-F238E27FC236}">
                  <a16:creationId xmlns:a16="http://schemas.microsoft.com/office/drawing/2014/main" id="{FE237A97-8275-4FC2-F34C-C4E9FA5CE598}"/>
                </a:ext>
              </a:extLst>
            </p:cNvPr>
            <p:cNvSpPr txBox="1"/>
            <p:nvPr/>
          </p:nvSpPr>
          <p:spPr>
            <a:xfrm>
              <a:off x="0" y="-47625"/>
              <a:ext cx="49982" cy="27569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359"/>
                </a:lnSpc>
                <a:spcBef>
                  <a:spcPct val="0"/>
                </a:spcBef>
              </a:pPr>
              <a:endParaRPr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7D8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219200" y="903395"/>
            <a:ext cx="14077950" cy="23018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800"/>
              </a:lnSpc>
              <a:spcBef>
                <a:spcPct val="0"/>
              </a:spcBef>
            </a:pPr>
            <a:r>
              <a:rPr lang="en-US" sz="8000" dirty="0">
                <a:solidFill>
                  <a:srgbClr val="FFFFFF"/>
                </a:solidFill>
                <a:latin typeface="Helios Extended"/>
                <a:ea typeface="Helios Extended"/>
                <a:cs typeface="Helios Extended"/>
                <a:sym typeface="Helios Extended"/>
              </a:rPr>
              <a:t>3. </a:t>
            </a:r>
            <a:r>
              <a:rPr lang="en-US" sz="8000" dirty="0" err="1">
                <a:solidFill>
                  <a:srgbClr val="FFFFFF"/>
                </a:solidFill>
                <a:latin typeface="Helios Extended"/>
                <a:ea typeface="Helios Extended"/>
                <a:cs typeface="Helios Extended"/>
                <a:sym typeface="Helios Extended"/>
              </a:rPr>
              <a:t>Objectifs</a:t>
            </a:r>
            <a:r>
              <a:rPr lang="en-US" sz="8000" dirty="0">
                <a:solidFill>
                  <a:srgbClr val="FFFFFF"/>
                </a:solidFill>
                <a:latin typeface="Helios Extended"/>
                <a:ea typeface="Helios Extended"/>
                <a:cs typeface="Helios Extended"/>
                <a:sym typeface="Helios Extended"/>
              </a:rPr>
              <a:t> </a:t>
            </a:r>
            <a:r>
              <a:rPr lang="en-US" sz="8000" dirty="0" err="1">
                <a:solidFill>
                  <a:srgbClr val="FFFFFF"/>
                </a:solidFill>
                <a:latin typeface="Helios Extended"/>
                <a:ea typeface="Helios Extended"/>
                <a:cs typeface="Helios Extended"/>
                <a:sym typeface="Helios Extended"/>
              </a:rPr>
              <a:t>Généraux</a:t>
            </a:r>
            <a:r>
              <a:rPr lang="en-US" sz="8000" dirty="0">
                <a:solidFill>
                  <a:srgbClr val="FFFFFF"/>
                </a:solidFill>
                <a:latin typeface="Helios Extended"/>
                <a:ea typeface="Helios Extended"/>
                <a:cs typeface="Helios Extended"/>
                <a:sym typeface="Helios Extended"/>
              </a:rPr>
              <a:t> de la </a:t>
            </a:r>
            <a:r>
              <a:rPr lang="en-US" sz="8000" dirty="0" err="1">
                <a:solidFill>
                  <a:srgbClr val="FFFFFF"/>
                </a:solidFill>
                <a:latin typeface="Helios Extended"/>
                <a:ea typeface="Helios Extended"/>
                <a:cs typeface="Helios Extended"/>
                <a:sym typeface="Helios Extended"/>
              </a:rPr>
              <a:t>Plateforme</a:t>
            </a:r>
            <a:r>
              <a:rPr lang="en-US" sz="8000" dirty="0">
                <a:solidFill>
                  <a:srgbClr val="FFFFFF"/>
                </a:solidFill>
                <a:latin typeface="Helios Extended"/>
                <a:ea typeface="Helios Extended"/>
                <a:cs typeface="Helios Extended"/>
                <a:sym typeface="Helios Extended"/>
              </a:rPr>
              <a:t>:</a:t>
            </a:r>
          </a:p>
        </p:txBody>
      </p:sp>
      <p:sp>
        <p:nvSpPr>
          <p:cNvPr id="3" name="Rectangle : coins arrondis 2">
            <a:extLst>
              <a:ext uri="{FF2B5EF4-FFF2-40B4-BE49-F238E27FC236}">
                <a16:creationId xmlns:a16="http://schemas.microsoft.com/office/drawing/2014/main" id="{F643FEF4-70D7-619E-8684-5554799780A2}"/>
              </a:ext>
            </a:extLst>
          </p:cNvPr>
          <p:cNvSpPr/>
          <p:nvPr/>
        </p:nvSpPr>
        <p:spPr>
          <a:xfrm>
            <a:off x="1366210" y="4699516"/>
            <a:ext cx="4819650" cy="2514600"/>
          </a:xfrm>
          <a:prstGeom prst="roundRect">
            <a:avLst>
              <a:gd name="adj" fmla="val 8210"/>
            </a:avLst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400" dirty="0">
                <a:solidFill>
                  <a:schemeClr val="tx1"/>
                </a:solidFill>
              </a:rPr>
              <a:t>Encourager le développement de compétences pratiques afin de favoriser l’employabilité</a:t>
            </a:r>
            <a:endParaRPr lang="fr-FR" dirty="0"/>
          </a:p>
        </p:txBody>
      </p:sp>
      <p:grpSp>
        <p:nvGrpSpPr>
          <p:cNvPr id="12" name="Group 12"/>
          <p:cNvGrpSpPr/>
          <p:nvPr/>
        </p:nvGrpSpPr>
        <p:grpSpPr>
          <a:xfrm rot="5400000">
            <a:off x="9068162" y="1029062"/>
            <a:ext cx="189775" cy="18326100"/>
            <a:chOff x="0" y="0"/>
            <a:chExt cx="49982" cy="4826627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49982" cy="4826627"/>
            </a:xfrm>
            <a:custGeom>
              <a:avLst/>
              <a:gdLst/>
              <a:ahLst/>
              <a:cxnLst/>
              <a:rect l="l" t="t" r="r" b="b"/>
              <a:pathLst>
                <a:path w="49982" h="4826627">
                  <a:moveTo>
                    <a:pt x="0" y="0"/>
                  </a:moveTo>
                  <a:lnTo>
                    <a:pt x="49982" y="0"/>
                  </a:lnTo>
                  <a:lnTo>
                    <a:pt x="49982" y="4826627"/>
                  </a:lnTo>
                  <a:lnTo>
                    <a:pt x="0" y="4826627"/>
                  </a:lnTo>
                  <a:close/>
                </a:path>
              </a:pathLst>
            </a:custGeom>
            <a:solidFill>
              <a:srgbClr val="E4F6FF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0" y="-47625"/>
              <a:ext cx="49982" cy="487425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16" name="Rectangle : coins arrondis 15">
            <a:extLst>
              <a:ext uri="{FF2B5EF4-FFF2-40B4-BE49-F238E27FC236}">
                <a16:creationId xmlns:a16="http://schemas.microsoft.com/office/drawing/2014/main" id="{16AED5A4-099B-9953-9A28-741E05200F7C}"/>
              </a:ext>
            </a:extLst>
          </p:cNvPr>
          <p:cNvSpPr/>
          <p:nvPr/>
        </p:nvSpPr>
        <p:spPr>
          <a:xfrm>
            <a:off x="1513847" y="4798753"/>
            <a:ext cx="4448174" cy="609600"/>
          </a:xfrm>
          <a:prstGeom prst="roundRect">
            <a:avLst>
              <a:gd name="adj" fmla="val 34109"/>
            </a:avLst>
          </a:prstGeom>
          <a:solidFill>
            <a:schemeClr val="tx2">
              <a:lumMod val="75000"/>
            </a:schemeClr>
          </a:solidFill>
          <a:ln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bg1"/>
                </a:solidFill>
                <a:latin typeface="Fira Sans Bold"/>
                <a:ea typeface="Fira Sans Bold"/>
                <a:cs typeface="Fira Sans Bold"/>
                <a:sym typeface="Fira Sans Bold"/>
              </a:rPr>
              <a:t>FORMER DES INFORMATICIENS</a:t>
            </a:r>
          </a:p>
        </p:txBody>
      </p:sp>
      <p:sp>
        <p:nvSpPr>
          <p:cNvPr id="17" name="Rectangle : coins arrondis 16">
            <a:extLst>
              <a:ext uri="{FF2B5EF4-FFF2-40B4-BE49-F238E27FC236}">
                <a16:creationId xmlns:a16="http://schemas.microsoft.com/office/drawing/2014/main" id="{F76D2916-C3C8-9C53-7ABD-C9D94729BFC0}"/>
              </a:ext>
            </a:extLst>
          </p:cNvPr>
          <p:cNvSpPr/>
          <p:nvPr/>
        </p:nvSpPr>
        <p:spPr>
          <a:xfrm>
            <a:off x="6881738" y="4739463"/>
            <a:ext cx="4819650" cy="2514600"/>
          </a:xfrm>
          <a:prstGeom prst="roundRect">
            <a:avLst>
              <a:gd name="adj" fmla="val 8210"/>
            </a:avLst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400" dirty="0">
                <a:solidFill>
                  <a:schemeClr val="tx1"/>
                </a:solidFill>
              </a:rPr>
              <a:t>Permettre aux apprenants de progresser à leur rythme et de développer ses compétences</a:t>
            </a:r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18" name="Rectangle : coins arrondis 17">
            <a:extLst>
              <a:ext uri="{FF2B5EF4-FFF2-40B4-BE49-F238E27FC236}">
                <a16:creationId xmlns:a16="http://schemas.microsoft.com/office/drawing/2014/main" id="{A86E5476-17FF-1263-9372-DEF4D4461FA2}"/>
              </a:ext>
            </a:extLst>
          </p:cNvPr>
          <p:cNvSpPr/>
          <p:nvPr/>
        </p:nvSpPr>
        <p:spPr>
          <a:xfrm>
            <a:off x="7029375" y="4838700"/>
            <a:ext cx="4448174" cy="609600"/>
          </a:xfrm>
          <a:prstGeom prst="roundRect">
            <a:avLst>
              <a:gd name="adj" fmla="val 34109"/>
            </a:avLst>
          </a:prstGeom>
          <a:solidFill>
            <a:schemeClr val="tx2">
              <a:lumMod val="75000"/>
            </a:schemeClr>
          </a:solidFill>
          <a:ln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bg1"/>
                </a:solidFill>
                <a:latin typeface="Fira Sans Bold"/>
                <a:ea typeface="Fira Sans Bold"/>
                <a:cs typeface="Fira Sans Bold"/>
                <a:sym typeface="Fira Sans Bold"/>
              </a:rPr>
              <a:t>ENCOURAGER L’AUTO-FORMATION</a:t>
            </a:r>
          </a:p>
        </p:txBody>
      </p:sp>
      <p:sp>
        <p:nvSpPr>
          <p:cNvPr id="19" name="Rectangle : coins arrondis 18">
            <a:extLst>
              <a:ext uri="{FF2B5EF4-FFF2-40B4-BE49-F238E27FC236}">
                <a16:creationId xmlns:a16="http://schemas.microsoft.com/office/drawing/2014/main" id="{D5873009-1BB2-BBD7-9F38-B14579FF730C}"/>
              </a:ext>
            </a:extLst>
          </p:cNvPr>
          <p:cNvSpPr/>
          <p:nvPr/>
        </p:nvSpPr>
        <p:spPr>
          <a:xfrm>
            <a:off x="12422741" y="4674485"/>
            <a:ext cx="4819650" cy="2514600"/>
          </a:xfrm>
          <a:prstGeom prst="roundRect">
            <a:avLst>
              <a:gd name="adj" fmla="val 8210"/>
            </a:avLst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400" dirty="0">
                <a:solidFill>
                  <a:schemeClr val="tx1"/>
                </a:solidFill>
              </a:rPr>
              <a:t>Réduire les inégalités d’accès à l’éducation informatique dans le pays d’Afrique</a:t>
            </a:r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20" name="Rectangle : coins arrondis 19">
            <a:extLst>
              <a:ext uri="{FF2B5EF4-FFF2-40B4-BE49-F238E27FC236}">
                <a16:creationId xmlns:a16="http://schemas.microsoft.com/office/drawing/2014/main" id="{AF1B6B39-ED88-B44E-B028-52A37B384DEF}"/>
              </a:ext>
            </a:extLst>
          </p:cNvPr>
          <p:cNvSpPr/>
          <p:nvPr/>
        </p:nvSpPr>
        <p:spPr>
          <a:xfrm>
            <a:off x="12570378" y="4773722"/>
            <a:ext cx="4448174" cy="609600"/>
          </a:xfrm>
          <a:prstGeom prst="roundRect">
            <a:avLst>
              <a:gd name="adj" fmla="val 34109"/>
            </a:avLst>
          </a:prstGeom>
          <a:solidFill>
            <a:schemeClr val="tx2">
              <a:lumMod val="75000"/>
            </a:schemeClr>
          </a:solidFill>
          <a:ln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0" algn="ctr">
              <a:lnSpc>
                <a:spcPts val="3640"/>
              </a:lnSpc>
            </a:pPr>
            <a:r>
              <a:rPr lang="en-US" sz="2000" b="1" dirty="0">
                <a:latin typeface="Fira Sans Bold"/>
                <a:ea typeface="Fira Sans Bold"/>
                <a:cs typeface="Fira Sans Bold"/>
                <a:sym typeface="Fira Sans Bold"/>
              </a:rPr>
              <a:t>RÉDUIRE LES INÉGALITÉS</a:t>
            </a:r>
          </a:p>
        </p:txBody>
      </p:sp>
      <p:grpSp>
        <p:nvGrpSpPr>
          <p:cNvPr id="21" name="Group 10">
            <a:extLst>
              <a:ext uri="{FF2B5EF4-FFF2-40B4-BE49-F238E27FC236}">
                <a16:creationId xmlns:a16="http://schemas.microsoft.com/office/drawing/2014/main" id="{9CA3BAF9-5FB4-9D1A-ACD9-4409529841EF}"/>
              </a:ext>
            </a:extLst>
          </p:cNvPr>
          <p:cNvGrpSpPr/>
          <p:nvPr/>
        </p:nvGrpSpPr>
        <p:grpSpPr>
          <a:xfrm rot="-10800000">
            <a:off x="-2" y="0"/>
            <a:ext cx="666751" cy="10287000"/>
            <a:chOff x="0" y="0"/>
            <a:chExt cx="49982" cy="2709333"/>
          </a:xfrm>
        </p:grpSpPr>
        <p:sp>
          <p:nvSpPr>
            <p:cNvPr id="22" name="Freeform 11">
              <a:extLst>
                <a:ext uri="{FF2B5EF4-FFF2-40B4-BE49-F238E27FC236}">
                  <a16:creationId xmlns:a16="http://schemas.microsoft.com/office/drawing/2014/main" id="{BD1DAA50-2F83-0AD6-7A24-02937F42080F}"/>
                </a:ext>
              </a:extLst>
            </p:cNvPr>
            <p:cNvSpPr/>
            <p:nvPr/>
          </p:nvSpPr>
          <p:spPr>
            <a:xfrm>
              <a:off x="0" y="0"/>
              <a:ext cx="49982" cy="2709333"/>
            </a:xfrm>
            <a:custGeom>
              <a:avLst/>
              <a:gdLst/>
              <a:ahLst/>
              <a:cxnLst/>
              <a:rect l="l" t="t" r="r" b="b"/>
              <a:pathLst>
                <a:path w="49982" h="2709333">
                  <a:moveTo>
                    <a:pt x="0" y="0"/>
                  </a:moveTo>
                  <a:lnTo>
                    <a:pt x="49982" y="0"/>
                  </a:lnTo>
                  <a:lnTo>
                    <a:pt x="4998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E4F6FF"/>
            </a:solidFill>
          </p:spPr>
        </p:sp>
        <p:sp>
          <p:nvSpPr>
            <p:cNvPr id="23" name="TextBox 12">
              <a:extLst>
                <a:ext uri="{FF2B5EF4-FFF2-40B4-BE49-F238E27FC236}">
                  <a16:creationId xmlns:a16="http://schemas.microsoft.com/office/drawing/2014/main" id="{748FF6A6-A006-D738-077E-646DD98D3F24}"/>
                </a:ext>
              </a:extLst>
            </p:cNvPr>
            <p:cNvSpPr txBox="1"/>
            <p:nvPr/>
          </p:nvSpPr>
          <p:spPr>
            <a:xfrm>
              <a:off x="0" y="-47625"/>
              <a:ext cx="49982" cy="27569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359"/>
                </a:lnSpc>
                <a:spcBef>
                  <a:spcPct val="0"/>
                </a:spcBef>
              </a:pPr>
              <a:endParaRPr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7D8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00125" y="666750"/>
            <a:ext cx="10039350" cy="6897185"/>
            <a:chOff x="444499" y="28575"/>
            <a:chExt cx="13385800" cy="9196245"/>
          </a:xfrm>
        </p:grpSpPr>
        <p:sp>
          <p:nvSpPr>
            <p:cNvPr id="3" name="TextBox 3"/>
            <p:cNvSpPr txBox="1"/>
            <p:nvPr/>
          </p:nvSpPr>
          <p:spPr>
            <a:xfrm>
              <a:off x="444499" y="28575"/>
              <a:ext cx="12534900" cy="3009370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lvl="0" indent="0" algn="l">
                <a:lnSpc>
                  <a:spcPts val="8800"/>
                </a:lnSpc>
                <a:spcBef>
                  <a:spcPct val="0"/>
                </a:spcBef>
              </a:pPr>
              <a:r>
                <a:rPr lang="en-US" sz="8000" u="none" strike="noStrike" dirty="0">
                  <a:solidFill>
                    <a:srgbClr val="FFFFFF"/>
                  </a:solidFill>
                  <a:latin typeface="Helios Extended"/>
                  <a:ea typeface="Helios Extended"/>
                  <a:cs typeface="Helios Extended"/>
                  <a:sym typeface="Helios Extended"/>
                </a:rPr>
                <a:t>4. </a:t>
              </a:r>
              <a:r>
                <a:rPr lang="en-US" sz="8000" u="none" strike="noStrike" dirty="0" err="1">
                  <a:solidFill>
                    <a:srgbClr val="FFFFFF"/>
                  </a:solidFill>
                  <a:latin typeface="Helios Extended"/>
                  <a:ea typeface="Helios Extended"/>
                  <a:cs typeface="Helios Extended"/>
                  <a:sym typeface="Helios Extended"/>
                </a:rPr>
                <a:t>Fonctionnalités</a:t>
              </a:r>
              <a:r>
                <a:rPr lang="en-US" sz="8000" u="none" strike="noStrike" dirty="0">
                  <a:solidFill>
                    <a:srgbClr val="FFFFFF"/>
                  </a:solidFill>
                  <a:latin typeface="Helios Extended"/>
                  <a:ea typeface="Helios Extended"/>
                  <a:cs typeface="Helios Extended"/>
                  <a:sym typeface="Helios Extended"/>
                </a:rPr>
                <a:t> de la </a:t>
              </a:r>
              <a:r>
                <a:rPr lang="en-US" sz="8000" u="none" strike="noStrike" dirty="0" err="1">
                  <a:solidFill>
                    <a:srgbClr val="FFFFFF"/>
                  </a:solidFill>
                  <a:latin typeface="Helios Extended"/>
                  <a:ea typeface="Helios Extended"/>
                  <a:cs typeface="Helios Extended"/>
                  <a:sym typeface="Helios Extended"/>
                </a:rPr>
                <a:t>plateforme</a:t>
              </a:r>
              <a:endParaRPr lang="en-US" sz="8000" u="none" strike="noStrike" dirty="0">
                <a:solidFill>
                  <a:srgbClr val="FFFFFF"/>
                </a:solidFill>
                <a:latin typeface="Helios Extended"/>
                <a:ea typeface="Helios Extended"/>
                <a:cs typeface="Helios Extended"/>
                <a:sym typeface="Helios Extended"/>
              </a:endParaRP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698500" y="5083174"/>
              <a:ext cx="13131799" cy="4141646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453392" lvl="1" indent="-226696" algn="l">
                <a:lnSpc>
                  <a:spcPts val="3360"/>
                </a:lnSpc>
                <a:buFont typeface="Arial"/>
                <a:buChar char="•"/>
              </a:pPr>
              <a:r>
                <a:rPr lang="en-US" sz="3600" dirty="0">
                  <a:solidFill>
                    <a:srgbClr val="FFFFFF"/>
                  </a:solidFill>
                  <a:latin typeface="Fira Sans Light"/>
                  <a:ea typeface="Fira Sans Light"/>
                  <a:cs typeface="Fira Sans Light"/>
                  <a:sym typeface="Fira Sans Light"/>
                </a:rPr>
                <a:t>Cours </a:t>
              </a:r>
              <a:r>
                <a:rPr lang="en-US" sz="3600" dirty="0" err="1">
                  <a:solidFill>
                    <a:srgbClr val="FFFFFF"/>
                  </a:solidFill>
                  <a:latin typeface="Fira Sans Light"/>
                  <a:ea typeface="Fira Sans Light"/>
                  <a:cs typeface="Fira Sans Light"/>
                  <a:sym typeface="Fira Sans Light"/>
                </a:rPr>
                <a:t>écrits</a:t>
              </a:r>
              <a:r>
                <a:rPr lang="en-US" sz="3600" dirty="0">
                  <a:solidFill>
                    <a:srgbClr val="FFFFFF"/>
                  </a:solidFill>
                  <a:latin typeface="Fira Sans Light"/>
                  <a:ea typeface="Fira Sans Light"/>
                  <a:cs typeface="Fira Sans Light"/>
                  <a:sym typeface="Fira Sans Light"/>
                </a:rPr>
                <a:t> et </a:t>
              </a:r>
              <a:r>
                <a:rPr lang="en-US" sz="3600" dirty="0" err="1">
                  <a:solidFill>
                    <a:srgbClr val="FFFFFF"/>
                  </a:solidFill>
                  <a:latin typeface="Fira Sans Light"/>
                  <a:ea typeface="Fira Sans Light"/>
                  <a:cs typeface="Fira Sans Light"/>
                  <a:sym typeface="Fira Sans Light"/>
                </a:rPr>
                <a:t>vidéos</a:t>
              </a:r>
              <a:endParaRPr lang="en-US" sz="3600" dirty="0">
                <a:solidFill>
                  <a:srgbClr val="FFFFFF"/>
                </a:solidFill>
                <a:latin typeface="Fira Sans Light"/>
                <a:ea typeface="Fira Sans Light"/>
                <a:cs typeface="Fira Sans Light"/>
                <a:sym typeface="Fira Sans Light"/>
              </a:endParaRPr>
            </a:p>
            <a:p>
              <a:pPr marL="453392" lvl="1" indent="-226696" algn="l">
                <a:lnSpc>
                  <a:spcPts val="3360"/>
                </a:lnSpc>
                <a:buFont typeface="Arial"/>
                <a:buChar char="•"/>
              </a:pPr>
              <a:endParaRPr lang="en-US" sz="3600" dirty="0">
                <a:solidFill>
                  <a:srgbClr val="FFFFFF"/>
                </a:solidFill>
                <a:latin typeface="Fira Sans Light"/>
                <a:ea typeface="Fira Sans Light"/>
                <a:cs typeface="Fira Sans Light"/>
                <a:sym typeface="Fira Sans Light"/>
              </a:endParaRPr>
            </a:p>
            <a:p>
              <a:pPr marL="453392" lvl="1" indent="-226696" algn="l">
                <a:lnSpc>
                  <a:spcPts val="3360"/>
                </a:lnSpc>
                <a:buFont typeface="Arial"/>
                <a:buChar char="•"/>
              </a:pPr>
              <a:r>
                <a:rPr lang="en-US" sz="3600" dirty="0">
                  <a:solidFill>
                    <a:srgbClr val="FFFFFF"/>
                  </a:solidFill>
                  <a:latin typeface="Fira Sans Light"/>
                  <a:ea typeface="Fira Sans Light"/>
                  <a:cs typeface="Fira Sans Light"/>
                  <a:sym typeface="Fira Sans Light"/>
                </a:rPr>
                <a:t>Système de validation </a:t>
              </a:r>
              <a:r>
                <a:rPr lang="en-US" sz="3600" dirty="0" err="1">
                  <a:solidFill>
                    <a:srgbClr val="FFFFFF"/>
                  </a:solidFill>
                  <a:latin typeface="Fira Sans Light"/>
                  <a:ea typeface="Fira Sans Light"/>
                  <a:cs typeface="Fira Sans Light"/>
                  <a:sym typeface="Fira Sans Light"/>
                </a:rPr>
                <a:t>intégré</a:t>
              </a:r>
              <a:endParaRPr lang="en-US" sz="3600" dirty="0">
                <a:solidFill>
                  <a:srgbClr val="FFFFFF"/>
                </a:solidFill>
                <a:latin typeface="Fira Sans Light"/>
                <a:ea typeface="Fira Sans Light"/>
                <a:cs typeface="Fira Sans Light"/>
                <a:sym typeface="Fira Sans Light"/>
              </a:endParaRPr>
            </a:p>
            <a:p>
              <a:pPr marL="453392" lvl="1" indent="-226696" algn="l">
                <a:lnSpc>
                  <a:spcPts val="3360"/>
                </a:lnSpc>
                <a:buFont typeface="Arial"/>
                <a:buChar char="•"/>
              </a:pPr>
              <a:endParaRPr lang="en-US" sz="3600" dirty="0">
                <a:solidFill>
                  <a:srgbClr val="FFFFFF"/>
                </a:solidFill>
                <a:latin typeface="Fira Sans Light"/>
                <a:ea typeface="Fira Sans Light"/>
                <a:cs typeface="Fira Sans Light"/>
                <a:sym typeface="Fira Sans Light"/>
              </a:endParaRPr>
            </a:p>
            <a:p>
              <a:pPr marL="453392" lvl="1" indent="-226696" algn="l">
                <a:lnSpc>
                  <a:spcPts val="3360"/>
                </a:lnSpc>
                <a:buFont typeface="Arial"/>
                <a:buChar char="•"/>
              </a:pPr>
              <a:r>
                <a:rPr lang="en-US" sz="3600" dirty="0" err="1">
                  <a:solidFill>
                    <a:srgbClr val="FFFFFF"/>
                  </a:solidFill>
                  <a:latin typeface="Fira Sans Light"/>
                  <a:ea typeface="Fira Sans Light"/>
                  <a:cs typeface="Fira Sans Light"/>
                  <a:sym typeface="Fira Sans Light"/>
                </a:rPr>
                <a:t>Exercices</a:t>
              </a:r>
              <a:r>
                <a:rPr lang="en-US" sz="3600" dirty="0">
                  <a:solidFill>
                    <a:srgbClr val="FFFFFF"/>
                  </a:solidFill>
                  <a:latin typeface="Fira Sans Light"/>
                  <a:ea typeface="Fira Sans Light"/>
                  <a:cs typeface="Fira Sans Light"/>
                  <a:sym typeface="Fira Sans Light"/>
                </a:rPr>
                <a:t> pratiques </a:t>
              </a:r>
              <a:r>
                <a:rPr lang="en-US" sz="3600" dirty="0" err="1">
                  <a:solidFill>
                    <a:srgbClr val="FFFFFF"/>
                  </a:solidFill>
                  <a:latin typeface="Fira Sans Light"/>
                  <a:ea typeface="Fira Sans Light"/>
                  <a:cs typeface="Fira Sans Light"/>
                  <a:sym typeface="Fira Sans Light"/>
                </a:rPr>
                <a:t>réguliers</a:t>
              </a:r>
              <a:endParaRPr lang="en-US" sz="3600" dirty="0">
                <a:solidFill>
                  <a:srgbClr val="FFFFFF"/>
                </a:solidFill>
                <a:latin typeface="Fira Sans Light"/>
                <a:ea typeface="Fira Sans Light"/>
                <a:cs typeface="Fira Sans Light"/>
                <a:sym typeface="Fira Sans Light"/>
              </a:endParaRPr>
            </a:p>
            <a:p>
              <a:pPr marL="453392" lvl="1" indent="-226696" algn="l">
                <a:lnSpc>
                  <a:spcPts val="3360"/>
                </a:lnSpc>
                <a:buFont typeface="Arial"/>
                <a:buChar char="•"/>
              </a:pPr>
              <a:endParaRPr lang="en-US" sz="3600" dirty="0">
                <a:solidFill>
                  <a:srgbClr val="FFFFFF"/>
                </a:solidFill>
                <a:latin typeface="Fira Sans Light"/>
                <a:ea typeface="Fira Sans Light"/>
                <a:cs typeface="Fira Sans Light"/>
                <a:sym typeface="Fira Sans Light"/>
              </a:endParaRPr>
            </a:p>
            <a:p>
              <a:pPr marL="453392" lvl="1" indent="-226696" algn="l">
                <a:lnSpc>
                  <a:spcPts val="3360"/>
                </a:lnSpc>
                <a:buFont typeface="Arial"/>
                <a:buChar char="•"/>
              </a:pPr>
              <a:r>
                <a:rPr lang="en-US" sz="3600" dirty="0" err="1">
                  <a:solidFill>
                    <a:srgbClr val="FFFFFF"/>
                  </a:solidFill>
                  <a:latin typeface="Fira Sans Light"/>
                  <a:ea typeface="Fira Sans Light"/>
                  <a:cs typeface="Fira Sans Light"/>
                  <a:sym typeface="Fira Sans Light"/>
                </a:rPr>
                <a:t>Suivi</a:t>
              </a:r>
              <a:r>
                <a:rPr lang="en-US" sz="3600" dirty="0">
                  <a:solidFill>
                    <a:srgbClr val="FFFFFF"/>
                  </a:solidFill>
                  <a:latin typeface="Fira Sans Light"/>
                  <a:ea typeface="Fira Sans Light"/>
                  <a:cs typeface="Fira Sans Light"/>
                  <a:sym typeface="Fira Sans Light"/>
                </a:rPr>
                <a:t> de progression </a:t>
              </a:r>
              <a:r>
                <a:rPr lang="en-US" sz="3600" dirty="0" err="1">
                  <a:solidFill>
                    <a:srgbClr val="FFFFFF"/>
                  </a:solidFill>
                  <a:latin typeface="Fira Sans Light"/>
                  <a:ea typeface="Fira Sans Light"/>
                  <a:cs typeface="Fira Sans Light"/>
                  <a:sym typeface="Fira Sans Light"/>
                </a:rPr>
                <a:t>personnalisé</a:t>
              </a:r>
              <a:endParaRPr lang="en-US" sz="3600" dirty="0">
                <a:solidFill>
                  <a:srgbClr val="FFFFFF"/>
                </a:solidFill>
                <a:latin typeface="Fira Sans Light"/>
                <a:ea typeface="Fira Sans Light"/>
                <a:cs typeface="Fira Sans Light"/>
                <a:sym typeface="Fira Sans Light"/>
              </a:endParaRPr>
            </a:p>
          </p:txBody>
        </p:sp>
      </p:grpSp>
      <p:sp>
        <p:nvSpPr>
          <p:cNvPr id="6" name="AutoShape 6"/>
          <p:cNvSpPr/>
          <p:nvPr/>
        </p:nvSpPr>
        <p:spPr>
          <a:xfrm>
            <a:off x="12172950" y="0"/>
            <a:ext cx="6115050" cy="10287000"/>
          </a:xfrm>
          <a:prstGeom prst="rect">
            <a:avLst/>
          </a:prstGeom>
          <a:solidFill>
            <a:srgbClr val="E4F6FF"/>
          </a:solidFill>
        </p:spPr>
      </p:sp>
      <p:grpSp>
        <p:nvGrpSpPr>
          <p:cNvPr id="7" name="Group 7"/>
          <p:cNvGrpSpPr/>
          <p:nvPr/>
        </p:nvGrpSpPr>
        <p:grpSpPr>
          <a:xfrm>
            <a:off x="10734675" y="666750"/>
            <a:ext cx="6886575" cy="8966200"/>
            <a:chOff x="0" y="0"/>
            <a:chExt cx="1546294" cy="2013248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546294" cy="2013248"/>
            </a:xfrm>
            <a:custGeom>
              <a:avLst/>
              <a:gdLst/>
              <a:ahLst/>
              <a:cxnLst/>
              <a:rect l="l" t="t" r="r" b="b"/>
              <a:pathLst>
                <a:path w="1546294" h="2013248">
                  <a:moveTo>
                    <a:pt x="0" y="0"/>
                  </a:moveTo>
                  <a:lnTo>
                    <a:pt x="1546294" y="0"/>
                  </a:lnTo>
                  <a:lnTo>
                    <a:pt x="1546294" y="2013248"/>
                  </a:lnTo>
                  <a:lnTo>
                    <a:pt x="0" y="2013248"/>
                  </a:lnTo>
                  <a:close/>
                </a:path>
              </a:pathLst>
            </a:custGeom>
            <a:blipFill>
              <a:blip r:embed="rId2"/>
              <a:stretch>
                <a:fillRect t="-199" b="-199"/>
              </a:stretch>
            </a:blipFill>
          </p:spPr>
        </p:sp>
      </p:grpSp>
      <p:grpSp>
        <p:nvGrpSpPr>
          <p:cNvPr id="9" name="Group 9"/>
          <p:cNvGrpSpPr/>
          <p:nvPr/>
        </p:nvGrpSpPr>
        <p:grpSpPr>
          <a:xfrm rot="-10800000">
            <a:off x="-2" y="0"/>
            <a:ext cx="666752" cy="10287000"/>
            <a:chOff x="0" y="0"/>
            <a:chExt cx="49982" cy="2709333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49982" cy="2709333"/>
            </a:xfrm>
            <a:custGeom>
              <a:avLst/>
              <a:gdLst/>
              <a:ahLst/>
              <a:cxnLst/>
              <a:rect l="l" t="t" r="r" b="b"/>
              <a:pathLst>
                <a:path w="49982" h="2709333">
                  <a:moveTo>
                    <a:pt x="0" y="0"/>
                  </a:moveTo>
                  <a:lnTo>
                    <a:pt x="49982" y="0"/>
                  </a:lnTo>
                  <a:lnTo>
                    <a:pt x="4998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E4F6FF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47625"/>
              <a:ext cx="49982" cy="27569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359"/>
                </a:lnSpc>
                <a:spcBef>
                  <a:spcPct val="0"/>
                </a:spcBef>
              </a:pPr>
              <a:endParaRPr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7D8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10"/>
          <p:cNvGrpSpPr/>
          <p:nvPr/>
        </p:nvGrpSpPr>
        <p:grpSpPr>
          <a:xfrm>
            <a:off x="10734675" y="666750"/>
            <a:ext cx="6886575" cy="8966200"/>
            <a:chOff x="0" y="0"/>
            <a:chExt cx="1546294" cy="2013248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546294" cy="2013248"/>
            </a:xfrm>
            <a:custGeom>
              <a:avLst/>
              <a:gdLst/>
              <a:ahLst/>
              <a:cxnLst/>
              <a:rect l="l" t="t" r="r" b="b"/>
              <a:pathLst>
                <a:path w="1546294" h="2013248">
                  <a:moveTo>
                    <a:pt x="0" y="0"/>
                  </a:moveTo>
                  <a:lnTo>
                    <a:pt x="1546294" y="0"/>
                  </a:lnTo>
                  <a:lnTo>
                    <a:pt x="1546294" y="2013248"/>
                  </a:lnTo>
                  <a:lnTo>
                    <a:pt x="0" y="2013248"/>
                  </a:lnTo>
                  <a:close/>
                </a:path>
              </a:pathLst>
            </a:custGeom>
            <a:blipFill>
              <a:blip r:embed="rId2"/>
              <a:stretch>
                <a:fillRect t="-199" b="-199"/>
              </a:stretch>
            </a:blipFill>
          </p:spPr>
        </p:sp>
      </p:grpSp>
      <p:grpSp>
        <p:nvGrpSpPr>
          <p:cNvPr id="12" name="Group 12"/>
          <p:cNvGrpSpPr/>
          <p:nvPr/>
        </p:nvGrpSpPr>
        <p:grpSpPr>
          <a:xfrm>
            <a:off x="18096128" y="0"/>
            <a:ext cx="191872" cy="10287000"/>
            <a:chOff x="0" y="0"/>
            <a:chExt cx="50534" cy="2709333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50534" cy="2709333"/>
            </a:xfrm>
            <a:custGeom>
              <a:avLst/>
              <a:gdLst/>
              <a:ahLst/>
              <a:cxnLst/>
              <a:rect l="l" t="t" r="r" b="b"/>
              <a:pathLst>
                <a:path w="50534" h="2709333">
                  <a:moveTo>
                    <a:pt x="0" y="0"/>
                  </a:moveTo>
                  <a:lnTo>
                    <a:pt x="50534" y="0"/>
                  </a:lnTo>
                  <a:lnTo>
                    <a:pt x="50534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E4F6FF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0" y="-47625"/>
              <a:ext cx="50534" cy="27569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3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" name="Group 2">
            <a:extLst>
              <a:ext uri="{FF2B5EF4-FFF2-40B4-BE49-F238E27FC236}">
                <a16:creationId xmlns:a16="http://schemas.microsoft.com/office/drawing/2014/main" id="{2322F8D9-62AD-93B0-1B73-569B5AFA247A}"/>
              </a:ext>
            </a:extLst>
          </p:cNvPr>
          <p:cNvGrpSpPr/>
          <p:nvPr/>
        </p:nvGrpSpPr>
        <p:grpSpPr>
          <a:xfrm>
            <a:off x="1000125" y="666750"/>
            <a:ext cx="10372724" cy="7632618"/>
            <a:chOff x="444499" y="28575"/>
            <a:chExt cx="13830299" cy="8317358"/>
          </a:xfrm>
        </p:grpSpPr>
        <p:sp>
          <p:nvSpPr>
            <p:cNvPr id="3" name="TextBox 3">
              <a:extLst>
                <a:ext uri="{FF2B5EF4-FFF2-40B4-BE49-F238E27FC236}">
                  <a16:creationId xmlns:a16="http://schemas.microsoft.com/office/drawing/2014/main" id="{CEAA12E5-13CF-0F01-0F02-B1A297FECE34}"/>
                </a:ext>
              </a:extLst>
            </p:cNvPr>
            <p:cNvSpPr txBox="1"/>
            <p:nvPr/>
          </p:nvSpPr>
          <p:spPr>
            <a:xfrm>
              <a:off x="444499" y="28575"/>
              <a:ext cx="12585700" cy="4514055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lvl="0">
                <a:lnSpc>
                  <a:spcPts val="8800"/>
                </a:lnSpc>
                <a:spcBef>
                  <a:spcPct val="0"/>
                </a:spcBef>
              </a:pPr>
              <a:r>
                <a:rPr lang="en-US" sz="8000" dirty="0">
                  <a:solidFill>
                    <a:srgbClr val="FFFFFF"/>
                  </a:solidFill>
                  <a:latin typeface="Helios Extended"/>
                  <a:ea typeface="Helios Extended"/>
                  <a:cs typeface="Helios Extended"/>
                  <a:sym typeface="Helios Extended"/>
                </a:rPr>
                <a:t>5</a:t>
              </a:r>
              <a:r>
                <a:rPr lang="en-US" sz="8000" u="none" strike="noStrike" dirty="0">
                  <a:solidFill>
                    <a:srgbClr val="FFFFFF"/>
                  </a:solidFill>
                  <a:latin typeface="Helios Extended"/>
                  <a:ea typeface="Helios Extended"/>
                  <a:cs typeface="Helios Extended"/>
                  <a:sym typeface="Helios Extended"/>
                </a:rPr>
                <a:t>. </a:t>
              </a:r>
              <a:r>
                <a:rPr lang="fr-FR" sz="8000" dirty="0">
                  <a:solidFill>
                    <a:schemeClr val="bg1"/>
                  </a:solidFill>
                  <a:latin typeface="Helios Extended" panose="020B0604020202020204" charset="0"/>
                </a:rPr>
                <a:t>Outils et technologies utilisées</a:t>
              </a:r>
              <a:endParaRPr lang="en-US" sz="8000" u="none" strike="noStrike" dirty="0">
                <a:solidFill>
                  <a:schemeClr val="bg1"/>
                </a:solidFill>
                <a:latin typeface="Helios Extended" panose="020B0604020202020204" charset="0"/>
                <a:ea typeface="Helios Extended"/>
                <a:cs typeface="Helios Extended"/>
                <a:sym typeface="Helios Extended"/>
              </a:endParaRPr>
            </a:p>
          </p:txBody>
        </p:sp>
        <p:sp>
          <p:nvSpPr>
            <p:cNvPr id="4" name="TextBox 5">
              <a:extLst>
                <a:ext uri="{FF2B5EF4-FFF2-40B4-BE49-F238E27FC236}">
                  <a16:creationId xmlns:a16="http://schemas.microsoft.com/office/drawing/2014/main" id="{F4C111A1-B71F-6E4A-4EE4-9131B64CB5EA}"/>
                </a:ext>
              </a:extLst>
            </p:cNvPr>
            <p:cNvSpPr txBox="1"/>
            <p:nvPr/>
          </p:nvSpPr>
          <p:spPr>
            <a:xfrm>
              <a:off x="1142999" y="5005469"/>
              <a:ext cx="13131799" cy="3340464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798196" lvl="1" indent="-571500" algn="l">
                <a:lnSpc>
                  <a:spcPts val="3360"/>
                </a:lnSpc>
                <a:buFontTx/>
                <a:buChar char="-"/>
              </a:pPr>
              <a:r>
                <a:rPr lang="en-US" sz="3600" dirty="0">
                  <a:solidFill>
                    <a:srgbClr val="FFFFFF"/>
                  </a:solidFill>
                  <a:latin typeface="Fira Sans Light"/>
                  <a:ea typeface="Fira Sans Light"/>
                  <a:cs typeface="Fira Sans Light"/>
                  <a:sym typeface="Fira Sans Light"/>
                </a:rPr>
                <a:t>Frontend: </a:t>
              </a:r>
              <a:r>
                <a:rPr lang="en-US" sz="3600" dirty="0" err="1">
                  <a:solidFill>
                    <a:srgbClr val="FFFFFF"/>
                  </a:solidFill>
                  <a:latin typeface="Fira Sans Light"/>
                  <a:ea typeface="Fira Sans Light"/>
                  <a:cs typeface="Fira Sans Light"/>
                  <a:sym typeface="Fira Sans Light"/>
                </a:rPr>
                <a:t>Raect</a:t>
              </a:r>
              <a:r>
                <a:rPr lang="en-US" sz="3600" dirty="0">
                  <a:solidFill>
                    <a:srgbClr val="FFFFFF"/>
                  </a:solidFill>
                  <a:latin typeface="Fira Sans Light"/>
                  <a:ea typeface="Fira Sans Light"/>
                  <a:cs typeface="Fira Sans Light"/>
                  <a:sym typeface="Fira Sans Light"/>
                </a:rPr>
                <a:t> (Typescript)</a:t>
              </a:r>
            </a:p>
            <a:p>
              <a:pPr marL="798196" lvl="1" indent="-571500" algn="l">
                <a:lnSpc>
                  <a:spcPts val="3360"/>
                </a:lnSpc>
                <a:buFontTx/>
                <a:buChar char="-"/>
              </a:pPr>
              <a:endParaRPr lang="en-US" sz="3600" dirty="0">
                <a:solidFill>
                  <a:srgbClr val="FFFFFF"/>
                </a:solidFill>
                <a:latin typeface="Fira Sans Light"/>
                <a:ea typeface="Fira Sans Light"/>
                <a:cs typeface="Fira Sans Light"/>
                <a:sym typeface="Fira Sans Light"/>
              </a:endParaRPr>
            </a:p>
            <a:p>
              <a:pPr marL="798196" lvl="1" indent="-571500" algn="l">
                <a:lnSpc>
                  <a:spcPts val="3360"/>
                </a:lnSpc>
                <a:buFontTx/>
                <a:buChar char="-"/>
              </a:pPr>
              <a:r>
                <a:rPr lang="en-US" sz="3600" dirty="0">
                  <a:solidFill>
                    <a:srgbClr val="FFFFFF"/>
                  </a:solidFill>
                  <a:latin typeface="Fira Sans Light"/>
                  <a:ea typeface="Fira Sans Light"/>
                  <a:cs typeface="Fira Sans Light"/>
                  <a:sym typeface="Fira Sans Light"/>
                </a:rPr>
                <a:t>Backend: Node.js (</a:t>
              </a:r>
              <a:r>
                <a:rPr lang="en-US" sz="3600" dirty="0" err="1">
                  <a:solidFill>
                    <a:srgbClr val="FFFFFF"/>
                  </a:solidFill>
                  <a:latin typeface="Fira Sans Light"/>
                  <a:ea typeface="Fira Sans Light"/>
                  <a:cs typeface="Fira Sans Light"/>
                  <a:sym typeface="Fira Sans Light"/>
                </a:rPr>
                <a:t>serveurs</a:t>
              </a:r>
              <a:r>
                <a:rPr lang="en-US" sz="3600" dirty="0">
                  <a:solidFill>
                    <a:srgbClr val="FFFFFF"/>
                  </a:solidFill>
                  <a:latin typeface="Fira Sans Light"/>
                  <a:ea typeface="Fira Sans Light"/>
                  <a:cs typeface="Fira Sans Light"/>
                  <a:sym typeface="Fira Sans Light"/>
                </a:rPr>
                <a:t>)</a:t>
              </a:r>
            </a:p>
            <a:p>
              <a:pPr marL="798196" lvl="1" indent="-571500" algn="l">
                <a:lnSpc>
                  <a:spcPts val="3360"/>
                </a:lnSpc>
                <a:buFontTx/>
                <a:buChar char="-"/>
              </a:pPr>
              <a:endParaRPr lang="en-US" sz="3600" dirty="0">
                <a:solidFill>
                  <a:srgbClr val="FFFFFF"/>
                </a:solidFill>
                <a:latin typeface="Fira Sans Light"/>
                <a:ea typeface="Fira Sans Light"/>
                <a:cs typeface="Fira Sans Light"/>
                <a:sym typeface="Fira Sans Light"/>
              </a:endParaRPr>
            </a:p>
            <a:p>
              <a:pPr marL="798196" lvl="1" indent="-571500" algn="l">
                <a:lnSpc>
                  <a:spcPts val="3360"/>
                </a:lnSpc>
                <a:buFontTx/>
                <a:buChar char="-"/>
              </a:pPr>
              <a:r>
                <a:rPr lang="en-US" sz="3600" dirty="0">
                  <a:solidFill>
                    <a:srgbClr val="FFFFFF"/>
                  </a:solidFill>
                  <a:latin typeface="Fira Sans Light"/>
                  <a:ea typeface="Fira Sans Light"/>
                  <a:cs typeface="Fira Sans Light"/>
                  <a:sym typeface="Fira Sans Light"/>
                </a:rPr>
                <a:t>Base de données: My SQL</a:t>
              </a:r>
            </a:p>
            <a:p>
              <a:pPr marL="798196" lvl="1" indent="-571500" algn="l">
                <a:lnSpc>
                  <a:spcPts val="3360"/>
                </a:lnSpc>
                <a:buFontTx/>
                <a:buChar char="-"/>
              </a:pPr>
              <a:endParaRPr lang="en-US" sz="3600" dirty="0">
                <a:solidFill>
                  <a:srgbClr val="FFFFFF"/>
                </a:solidFill>
                <a:latin typeface="Fira Sans Light"/>
                <a:ea typeface="Fira Sans Light"/>
                <a:cs typeface="Fira Sans Light"/>
                <a:sym typeface="Fira Sans Light"/>
              </a:endParaRPr>
            </a:p>
            <a:p>
              <a:pPr marL="798196" lvl="1" indent="-571500" algn="l">
                <a:lnSpc>
                  <a:spcPts val="3360"/>
                </a:lnSpc>
                <a:buFontTx/>
                <a:buChar char="-"/>
              </a:pPr>
              <a:r>
                <a:rPr lang="en-US" sz="3600" dirty="0" err="1">
                  <a:solidFill>
                    <a:srgbClr val="FFFFFF"/>
                  </a:solidFill>
                  <a:latin typeface="Fira Sans Light"/>
                  <a:ea typeface="Fira Sans Light"/>
                  <a:cs typeface="Fira Sans Light"/>
                  <a:sym typeface="Fira Sans Light"/>
                </a:rPr>
                <a:t>Outils</a:t>
              </a:r>
              <a:r>
                <a:rPr lang="en-US" sz="3600" dirty="0">
                  <a:solidFill>
                    <a:srgbClr val="FFFFFF"/>
                  </a:solidFill>
                  <a:latin typeface="Fira Sans Light"/>
                  <a:ea typeface="Fira Sans Light"/>
                  <a:cs typeface="Fira Sans Light"/>
                  <a:sym typeface="Fira Sans Light"/>
                </a:rPr>
                <a:t>: Git, GitHub</a:t>
              </a:r>
            </a:p>
          </p:txBody>
        </p:sp>
      </p:grpSp>
      <p:grpSp>
        <p:nvGrpSpPr>
          <p:cNvPr id="5" name="Group 9">
            <a:extLst>
              <a:ext uri="{FF2B5EF4-FFF2-40B4-BE49-F238E27FC236}">
                <a16:creationId xmlns:a16="http://schemas.microsoft.com/office/drawing/2014/main" id="{C5A7B888-FF05-3F63-AE10-FB7E8D992FEA}"/>
              </a:ext>
            </a:extLst>
          </p:cNvPr>
          <p:cNvGrpSpPr/>
          <p:nvPr/>
        </p:nvGrpSpPr>
        <p:grpSpPr>
          <a:xfrm rot="-10800000">
            <a:off x="-2" y="0"/>
            <a:ext cx="666752" cy="10287000"/>
            <a:chOff x="0" y="0"/>
            <a:chExt cx="49982" cy="2709333"/>
          </a:xfrm>
        </p:grpSpPr>
        <p:sp>
          <p:nvSpPr>
            <p:cNvPr id="6" name="Freeform 10">
              <a:extLst>
                <a:ext uri="{FF2B5EF4-FFF2-40B4-BE49-F238E27FC236}">
                  <a16:creationId xmlns:a16="http://schemas.microsoft.com/office/drawing/2014/main" id="{0570AE45-84C2-EC6C-D6C5-9A613496665E}"/>
                </a:ext>
              </a:extLst>
            </p:cNvPr>
            <p:cNvSpPr/>
            <p:nvPr/>
          </p:nvSpPr>
          <p:spPr>
            <a:xfrm>
              <a:off x="0" y="0"/>
              <a:ext cx="49982" cy="2709333"/>
            </a:xfrm>
            <a:custGeom>
              <a:avLst/>
              <a:gdLst/>
              <a:ahLst/>
              <a:cxnLst/>
              <a:rect l="l" t="t" r="r" b="b"/>
              <a:pathLst>
                <a:path w="49982" h="2709333">
                  <a:moveTo>
                    <a:pt x="0" y="0"/>
                  </a:moveTo>
                  <a:lnTo>
                    <a:pt x="49982" y="0"/>
                  </a:lnTo>
                  <a:lnTo>
                    <a:pt x="4998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E4F6FF"/>
            </a:solidFill>
          </p:spPr>
        </p:sp>
        <p:sp>
          <p:nvSpPr>
            <p:cNvPr id="7" name="TextBox 11">
              <a:extLst>
                <a:ext uri="{FF2B5EF4-FFF2-40B4-BE49-F238E27FC236}">
                  <a16:creationId xmlns:a16="http://schemas.microsoft.com/office/drawing/2014/main" id="{A7ACE15E-093C-DE51-5D85-6FC38E205C6C}"/>
                </a:ext>
              </a:extLst>
            </p:cNvPr>
            <p:cNvSpPr txBox="1"/>
            <p:nvPr/>
          </p:nvSpPr>
          <p:spPr>
            <a:xfrm>
              <a:off x="0" y="-47625"/>
              <a:ext cx="49982" cy="27569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359"/>
                </a:lnSpc>
                <a:spcBef>
                  <a:spcPct val="0"/>
                </a:spcBef>
              </a:pPr>
              <a:endParaRPr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7D8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4EB8808-A685-697B-C039-5EC6D46087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792527AF-BFC0-E3F0-A7D8-7E448D44B5E1}"/>
              </a:ext>
            </a:extLst>
          </p:cNvPr>
          <p:cNvSpPr txBox="1"/>
          <p:nvPr/>
        </p:nvSpPr>
        <p:spPr>
          <a:xfrm>
            <a:off x="1219200" y="931579"/>
            <a:ext cx="12973050" cy="112851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8800"/>
              </a:lnSpc>
              <a:spcBef>
                <a:spcPct val="0"/>
              </a:spcBef>
            </a:pPr>
            <a:r>
              <a:rPr lang="en-US" sz="8000" dirty="0">
                <a:solidFill>
                  <a:srgbClr val="FFFFFF"/>
                </a:solidFill>
                <a:latin typeface="Helios Extended"/>
                <a:ea typeface="Helios Extended"/>
                <a:cs typeface="Helios Extended"/>
                <a:sym typeface="Helios Extended"/>
              </a:rPr>
              <a:t>6. Business model:</a:t>
            </a:r>
          </a:p>
        </p:txBody>
      </p:sp>
      <p:grpSp>
        <p:nvGrpSpPr>
          <p:cNvPr id="9" name="Group 9">
            <a:extLst>
              <a:ext uri="{FF2B5EF4-FFF2-40B4-BE49-F238E27FC236}">
                <a16:creationId xmlns:a16="http://schemas.microsoft.com/office/drawing/2014/main" id="{82FDDEA8-5AC5-C2BC-2547-B33A1970AE0E}"/>
              </a:ext>
            </a:extLst>
          </p:cNvPr>
          <p:cNvGrpSpPr/>
          <p:nvPr/>
        </p:nvGrpSpPr>
        <p:grpSpPr>
          <a:xfrm rot="5400000">
            <a:off x="9068162" y="1029062"/>
            <a:ext cx="189775" cy="18326100"/>
            <a:chOff x="0" y="0"/>
            <a:chExt cx="49982" cy="4826627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4F2A2224-5187-3F18-FF81-22C7AC9FDF8D}"/>
                </a:ext>
              </a:extLst>
            </p:cNvPr>
            <p:cNvSpPr/>
            <p:nvPr/>
          </p:nvSpPr>
          <p:spPr>
            <a:xfrm>
              <a:off x="0" y="0"/>
              <a:ext cx="49982" cy="4826627"/>
            </a:xfrm>
            <a:custGeom>
              <a:avLst/>
              <a:gdLst/>
              <a:ahLst/>
              <a:cxnLst/>
              <a:rect l="l" t="t" r="r" b="b"/>
              <a:pathLst>
                <a:path w="49982" h="4826627">
                  <a:moveTo>
                    <a:pt x="0" y="0"/>
                  </a:moveTo>
                  <a:lnTo>
                    <a:pt x="49982" y="0"/>
                  </a:lnTo>
                  <a:lnTo>
                    <a:pt x="49982" y="4826627"/>
                  </a:lnTo>
                  <a:lnTo>
                    <a:pt x="0" y="4826627"/>
                  </a:lnTo>
                  <a:close/>
                </a:path>
              </a:pathLst>
            </a:custGeom>
            <a:solidFill>
              <a:srgbClr val="E4F6FF"/>
            </a:solidFill>
          </p:spPr>
        </p:sp>
        <p:sp>
          <p:nvSpPr>
            <p:cNvPr id="11" name="TextBox 11">
              <a:extLst>
                <a:ext uri="{FF2B5EF4-FFF2-40B4-BE49-F238E27FC236}">
                  <a16:creationId xmlns:a16="http://schemas.microsoft.com/office/drawing/2014/main" id="{A738A21D-EA3F-4F95-179F-24F349B6CD98}"/>
                </a:ext>
              </a:extLst>
            </p:cNvPr>
            <p:cNvSpPr txBox="1"/>
            <p:nvPr/>
          </p:nvSpPr>
          <p:spPr>
            <a:xfrm>
              <a:off x="0" y="-47625"/>
              <a:ext cx="49982" cy="487425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cxnSp>
        <p:nvCxnSpPr>
          <p:cNvPr id="13" name="Connecteur droit 12">
            <a:extLst>
              <a:ext uri="{FF2B5EF4-FFF2-40B4-BE49-F238E27FC236}">
                <a16:creationId xmlns:a16="http://schemas.microsoft.com/office/drawing/2014/main" id="{FC6F37A4-1D29-5817-871E-2C479E57D577}"/>
              </a:ext>
            </a:extLst>
          </p:cNvPr>
          <p:cNvCxnSpPr>
            <a:cxnSpLocks/>
          </p:cNvCxnSpPr>
          <p:nvPr/>
        </p:nvCxnSpPr>
        <p:spPr>
          <a:xfrm flipV="1">
            <a:off x="1674295" y="5220623"/>
            <a:ext cx="8993705" cy="30085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3" name="Group 10">
            <a:extLst>
              <a:ext uri="{FF2B5EF4-FFF2-40B4-BE49-F238E27FC236}">
                <a16:creationId xmlns:a16="http://schemas.microsoft.com/office/drawing/2014/main" id="{FAC0F5DF-A198-2B57-6D53-0A56610D0918}"/>
              </a:ext>
            </a:extLst>
          </p:cNvPr>
          <p:cNvGrpSpPr/>
          <p:nvPr/>
        </p:nvGrpSpPr>
        <p:grpSpPr>
          <a:xfrm rot="-10800000">
            <a:off x="-2" y="0"/>
            <a:ext cx="666751" cy="10287000"/>
            <a:chOff x="0" y="0"/>
            <a:chExt cx="49982" cy="2709333"/>
          </a:xfrm>
        </p:grpSpPr>
        <p:sp>
          <p:nvSpPr>
            <p:cNvPr id="24" name="Freeform 11">
              <a:extLst>
                <a:ext uri="{FF2B5EF4-FFF2-40B4-BE49-F238E27FC236}">
                  <a16:creationId xmlns:a16="http://schemas.microsoft.com/office/drawing/2014/main" id="{95915501-B152-CA09-DD7A-3EE221EB40CA}"/>
                </a:ext>
              </a:extLst>
            </p:cNvPr>
            <p:cNvSpPr/>
            <p:nvPr/>
          </p:nvSpPr>
          <p:spPr>
            <a:xfrm>
              <a:off x="0" y="0"/>
              <a:ext cx="49982" cy="2709333"/>
            </a:xfrm>
            <a:custGeom>
              <a:avLst/>
              <a:gdLst/>
              <a:ahLst/>
              <a:cxnLst/>
              <a:rect l="l" t="t" r="r" b="b"/>
              <a:pathLst>
                <a:path w="49982" h="2709333">
                  <a:moveTo>
                    <a:pt x="0" y="0"/>
                  </a:moveTo>
                  <a:lnTo>
                    <a:pt x="49982" y="0"/>
                  </a:lnTo>
                  <a:lnTo>
                    <a:pt x="4998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E4F6FF"/>
            </a:solidFill>
          </p:spPr>
        </p:sp>
        <p:sp>
          <p:nvSpPr>
            <p:cNvPr id="25" name="TextBox 12">
              <a:extLst>
                <a:ext uri="{FF2B5EF4-FFF2-40B4-BE49-F238E27FC236}">
                  <a16:creationId xmlns:a16="http://schemas.microsoft.com/office/drawing/2014/main" id="{1037FB05-1ED2-CF90-7EEB-1D5A40EAE94D}"/>
                </a:ext>
              </a:extLst>
            </p:cNvPr>
            <p:cNvSpPr txBox="1"/>
            <p:nvPr/>
          </p:nvSpPr>
          <p:spPr>
            <a:xfrm>
              <a:off x="0" y="-47625"/>
              <a:ext cx="49982" cy="27569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3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3" name="Rectangle : coins arrondis 2">
            <a:extLst>
              <a:ext uri="{FF2B5EF4-FFF2-40B4-BE49-F238E27FC236}">
                <a16:creationId xmlns:a16="http://schemas.microsoft.com/office/drawing/2014/main" id="{E87B2F05-6DF0-5A9F-165E-C9D94AC47C86}"/>
              </a:ext>
            </a:extLst>
          </p:cNvPr>
          <p:cNvSpPr/>
          <p:nvPr/>
        </p:nvSpPr>
        <p:spPr>
          <a:xfrm>
            <a:off x="1734546" y="4437763"/>
            <a:ext cx="1979318" cy="58874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000" dirty="0">
                <a:solidFill>
                  <a:schemeClr val="tx1"/>
                </a:solidFill>
                <a:latin typeface="Fira Sans Light" panose="020B0403050000020004" pitchFamily="34" charset="0"/>
              </a:rPr>
              <a:t>Gratuit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F2A542BC-8D02-4C26-AE04-A17009FDC532}"/>
              </a:ext>
            </a:extLst>
          </p:cNvPr>
          <p:cNvSpPr txBox="1"/>
          <p:nvPr/>
        </p:nvSpPr>
        <p:spPr>
          <a:xfrm>
            <a:off x="3713864" y="4510863"/>
            <a:ext cx="469294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chemeClr val="bg1"/>
                </a:solidFill>
                <a:latin typeface="Fira Sans Light" panose="020B0403050000020004" pitchFamily="34" charset="0"/>
              </a:rPr>
              <a:t>LE TELÉCHARGEMENT ET L’INSCIPTION SONT SANS COMPENSASTION</a:t>
            </a:r>
          </a:p>
        </p:txBody>
      </p:sp>
      <p:cxnSp>
        <p:nvCxnSpPr>
          <p:cNvPr id="12" name="Connecteur droit 11">
            <a:extLst>
              <a:ext uri="{FF2B5EF4-FFF2-40B4-BE49-F238E27FC236}">
                <a16:creationId xmlns:a16="http://schemas.microsoft.com/office/drawing/2014/main" id="{42C45674-2458-5696-8968-0F9120156646}"/>
              </a:ext>
            </a:extLst>
          </p:cNvPr>
          <p:cNvCxnSpPr>
            <a:cxnSpLocks/>
          </p:cNvCxnSpPr>
          <p:nvPr/>
        </p:nvCxnSpPr>
        <p:spPr>
          <a:xfrm flipV="1">
            <a:off x="1600200" y="7289871"/>
            <a:ext cx="9067800" cy="93514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 : coins arrondis 14">
            <a:extLst>
              <a:ext uri="{FF2B5EF4-FFF2-40B4-BE49-F238E27FC236}">
                <a16:creationId xmlns:a16="http://schemas.microsoft.com/office/drawing/2014/main" id="{EACF689A-7294-3B72-DE9A-B08FDEE61C0B}"/>
              </a:ext>
            </a:extLst>
          </p:cNvPr>
          <p:cNvSpPr/>
          <p:nvPr/>
        </p:nvSpPr>
        <p:spPr>
          <a:xfrm>
            <a:off x="1757583" y="6590685"/>
            <a:ext cx="1979318" cy="58874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000" dirty="0">
                <a:solidFill>
                  <a:schemeClr val="tx1"/>
                </a:solidFill>
                <a:latin typeface="Fira Sans Light" panose="020B0403050000020004" pitchFamily="34" charset="0"/>
              </a:rPr>
              <a:t>Publicité</a:t>
            </a: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EEFF638B-AC45-0438-ECBD-1908A8DAEB8A}"/>
              </a:ext>
            </a:extLst>
          </p:cNvPr>
          <p:cNvSpPr txBox="1"/>
          <p:nvPr/>
        </p:nvSpPr>
        <p:spPr>
          <a:xfrm>
            <a:off x="3713864" y="6610313"/>
            <a:ext cx="67325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chemeClr val="bg1"/>
                </a:solidFill>
                <a:latin typeface="Fira Sans Light" panose="020B0403050000020004" pitchFamily="34" charset="0"/>
              </a:rPr>
              <a:t>QUELQUES PUBLICITÉS NON INTRUSIVES AFIN D’ASSURER LA MAINTENANCE ET LA PÉRENNITÉ DU SITE</a:t>
            </a:r>
          </a:p>
        </p:txBody>
      </p:sp>
    </p:spTree>
    <p:extLst>
      <p:ext uri="{BB962C8B-B14F-4D97-AF65-F5344CB8AC3E}">
        <p14:creationId xmlns:p14="http://schemas.microsoft.com/office/powerpoint/2010/main" val="8600792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7D8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65BA2E4-BB3D-4F2B-1E6F-4BA89D8C64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473EC2A5-2F7A-1481-E4F7-D9EE1EE1EE5B}"/>
              </a:ext>
            </a:extLst>
          </p:cNvPr>
          <p:cNvSpPr txBox="1"/>
          <p:nvPr/>
        </p:nvSpPr>
        <p:spPr>
          <a:xfrm>
            <a:off x="1219200" y="931579"/>
            <a:ext cx="10226198" cy="338554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>
              <a:lnSpc>
                <a:spcPts val="8800"/>
              </a:lnSpc>
              <a:spcBef>
                <a:spcPct val="0"/>
              </a:spcBef>
            </a:pPr>
            <a:r>
              <a:rPr lang="fr-FR" sz="8000" dirty="0">
                <a:solidFill>
                  <a:schemeClr val="bg1"/>
                </a:solidFill>
                <a:latin typeface="Helios Extended" panose="020B0604020202020204" charset="0"/>
              </a:rPr>
              <a:t>Merci à tous pour votre attention et votre temps</a:t>
            </a:r>
            <a:endParaRPr lang="en-US" sz="8000" dirty="0">
              <a:solidFill>
                <a:schemeClr val="bg1"/>
              </a:solidFill>
              <a:latin typeface="Helios Extended" panose="020B0604020202020204" charset="0"/>
              <a:ea typeface="Helios Extended"/>
              <a:cs typeface="Helios Extended"/>
              <a:sym typeface="Helios Extended"/>
            </a:endParaRPr>
          </a:p>
        </p:txBody>
      </p:sp>
      <p:grpSp>
        <p:nvGrpSpPr>
          <p:cNvPr id="9" name="Group 9">
            <a:extLst>
              <a:ext uri="{FF2B5EF4-FFF2-40B4-BE49-F238E27FC236}">
                <a16:creationId xmlns:a16="http://schemas.microsoft.com/office/drawing/2014/main" id="{3623F5E4-E3BD-39CB-DFC8-CCC6927F9ACA}"/>
              </a:ext>
            </a:extLst>
          </p:cNvPr>
          <p:cNvGrpSpPr/>
          <p:nvPr/>
        </p:nvGrpSpPr>
        <p:grpSpPr>
          <a:xfrm rot="5400000">
            <a:off x="9068162" y="1029062"/>
            <a:ext cx="189775" cy="18326100"/>
            <a:chOff x="0" y="0"/>
            <a:chExt cx="49982" cy="4826627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B007AF49-2FDB-633F-52EB-FBE1E7D0178F}"/>
                </a:ext>
              </a:extLst>
            </p:cNvPr>
            <p:cNvSpPr/>
            <p:nvPr/>
          </p:nvSpPr>
          <p:spPr>
            <a:xfrm>
              <a:off x="0" y="0"/>
              <a:ext cx="49982" cy="4826627"/>
            </a:xfrm>
            <a:custGeom>
              <a:avLst/>
              <a:gdLst/>
              <a:ahLst/>
              <a:cxnLst/>
              <a:rect l="l" t="t" r="r" b="b"/>
              <a:pathLst>
                <a:path w="49982" h="4826627">
                  <a:moveTo>
                    <a:pt x="0" y="0"/>
                  </a:moveTo>
                  <a:lnTo>
                    <a:pt x="49982" y="0"/>
                  </a:lnTo>
                  <a:lnTo>
                    <a:pt x="49982" y="4826627"/>
                  </a:lnTo>
                  <a:lnTo>
                    <a:pt x="0" y="4826627"/>
                  </a:lnTo>
                  <a:close/>
                </a:path>
              </a:pathLst>
            </a:custGeom>
            <a:solidFill>
              <a:srgbClr val="E4F6FF"/>
            </a:solidFill>
          </p:spPr>
        </p:sp>
        <p:sp>
          <p:nvSpPr>
            <p:cNvPr id="11" name="TextBox 11">
              <a:extLst>
                <a:ext uri="{FF2B5EF4-FFF2-40B4-BE49-F238E27FC236}">
                  <a16:creationId xmlns:a16="http://schemas.microsoft.com/office/drawing/2014/main" id="{C6376C60-9357-3951-45E7-684C4B7A8860}"/>
                </a:ext>
              </a:extLst>
            </p:cNvPr>
            <p:cNvSpPr txBox="1"/>
            <p:nvPr/>
          </p:nvSpPr>
          <p:spPr>
            <a:xfrm>
              <a:off x="0" y="-47625"/>
              <a:ext cx="49982" cy="487425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23" name="Group 10">
            <a:extLst>
              <a:ext uri="{FF2B5EF4-FFF2-40B4-BE49-F238E27FC236}">
                <a16:creationId xmlns:a16="http://schemas.microsoft.com/office/drawing/2014/main" id="{337CF4F2-25F1-0870-BC8B-024C20C4B130}"/>
              </a:ext>
            </a:extLst>
          </p:cNvPr>
          <p:cNvGrpSpPr/>
          <p:nvPr/>
        </p:nvGrpSpPr>
        <p:grpSpPr>
          <a:xfrm rot="-10800000">
            <a:off x="-2" y="0"/>
            <a:ext cx="666751" cy="10287000"/>
            <a:chOff x="0" y="0"/>
            <a:chExt cx="49982" cy="2709333"/>
          </a:xfrm>
        </p:grpSpPr>
        <p:sp>
          <p:nvSpPr>
            <p:cNvPr id="24" name="Freeform 11">
              <a:extLst>
                <a:ext uri="{FF2B5EF4-FFF2-40B4-BE49-F238E27FC236}">
                  <a16:creationId xmlns:a16="http://schemas.microsoft.com/office/drawing/2014/main" id="{83D440FD-B012-EB72-D37C-33D76B51A824}"/>
                </a:ext>
              </a:extLst>
            </p:cNvPr>
            <p:cNvSpPr/>
            <p:nvPr/>
          </p:nvSpPr>
          <p:spPr>
            <a:xfrm>
              <a:off x="0" y="0"/>
              <a:ext cx="49982" cy="2709333"/>
            </a:xfrm>
            <a:custGeom>
              <a:avLst/>
              <a:gdLst/>
              <a:ahLst/>
              <a:cxnLst/>
              <a:rect l="l" t="t" r="r" b="b"/>
              <a:pathLst>
                <a:path w="49982" h="2709333">
                  <a:moveTo>
                    <a:pt x="0" y="0"/>
                  </a:moveTo>
                  <a:lnTo>
                    <a:pt x="49982" y="0"/>
                  </a:lnTo>
                  <a:lnTo>
                    <a:pt x="4998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E4F6FF"/>
            </a:solidFill>
          </p:spPr>
        </p:sp>
        <p:sp>
          <p:nvSpPr>
            <p:cNvPr id="25" name="TextBox 12">
              <a:extLst>
                <a:ext uri="{FF2B5EF4-FFF2-40B4-BE49-F238E27FC236}">
                  <a16:creationId xmlns:a16="http://schemas.microsoft.com/office/drawing/2014/main" id="{97337544-C299-20A8-6D3B-DF6C56A95A05}"/>
                </a:ext>
              </a:extLst>
            </p:cNvPr>
            <p:cNvSpPr txBox="1"/>
            <p:nvPr/>
          </p:nvSpPr>
          <p:spPr>
            <a:xfrm>
              <a:off x="0" y="-47625"/>
              <a:ext cx="49982" cy="27569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3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7" name="Group 10">
            <a:extLst>
              <a:ext uri="{FF2B5EF4-FFF2-40B4-BE49-F238E27FC236}">
                <a16:creationId xmlns:a16="http://schemas.microsoft.com/office/drawing/2014/main" id="{C8C091E5-3B8E-CF18-01B4-CF3D28AC4F8F}"/>
              </a:ext>
            </a:extLst>
          </p:cNvPr>
          <p:cNvGrpSpPr/>
          <p:nvPr/>
        </p:nvGrpSpPr>
        <p:grpSpPr>
          <a:xfrm rot="-10800000">
            <a:off x="13792200" y="0"/>
            <a:ext cx="4533898" cy="10097224"/>
            <a:chOff x="0" y="0"/>
            <a:chExt cx="49982" cy="2709333"/>
          </a:xfrm>
        </p:grpSpPr>
        <p:sp>
          <p:nvSpPr>
            <p:cNvPr id="8" name="Freeform 11">
              <a:extLst>
                <a:ext uri="{FF2B5EF4-FFF2-40B4-BE49-F238E27FC236}">
                  <a16:creationId xmlns:a16="http://schemas.microsoft.com/office/drawing/2014/main" id="{84452888-19EB-D01C-24EB-EB6340787166}"/>
                </a:ext>
              </a:extLst>
            </p:cNvPr>
            <p:cNvSpPr/>
            <p:nvPr/>
          </p:nvSpPr>
          <p:spPr>
            <a:xfrm>
              <a:off x="0" y="0"/>
              <a:ext cx="49982" cy="2709333"/>
            </a:xfrm>
            <a:custGeom>
              <a:avLst/>
              <a:gdLst/>
              <a:ahLst/>
              <a:cxnLst/>
              <a:rect l="l" t="t" r="r" b="b"/>
              <a:pathLst>
                <a:path w="49982" h="2709333">
                  <a:moveTo>
                    <a:pt x="0" y="0"/>
                  </a:moveTo>
                  <a:lnTo>
                    <a:pt x="49982" y="0"/>
                  </a:lnTo>
                  <a:lnTo>
                    <a:pt x="4998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E4F6FF"/>
            </a:solidFill>
          </p:spPr>
        </p:sp>
        <p:sp>
          <p:nvSpPr>
            <p:cNvPr id="14" name="TextBox 12">
              <a:extLst>
                <a:ext uri="{FF2B5EF4-FFF2-40B4-BE49-F238E27FC236}">
                  <a16:creationId xmlns:a16="http://schemas.microsoft.com/office/drawing/2014/main" id="{74BE6DDB-DDCC-EE71-33B0-DBEDC4A84503}"/>
                </a:ext>
              </a:extLst>
            </p:cNvPr>
            <p:cNvSpPr txBox="1"/>
            <p:nvPr/>
          </p:nvSpPr>
          <p:spPr>
            <a:xfrm>
              <a:off x="0" y="-47625"/>
              <a:ext cx="49982" cy="27569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359"/>
                </a:lnSpc>
                <a:spcBef>
                  <a:spcPct val="0"/>
                </a:spcBef>
              </a:pPr>
              <a:endParaRPr/>
            </a:p>
          </p:txBody>
        </p:sp>
      </p:grpSp>
      <p:pic>
        <p:nvPicPr>
          <p:cNvPr id="6" name="Image 5" descr="Une image contenant meubles, habits, chaise, personne&#10;&#10;Le contenu généré par l’IA peut être incorrect.">
            <a:extLst>
              <a:ext uri="{FF2B5EF4-FFF2-40B4-BE49-F238E27FC236}">
                <a16:creationId xmlns:a16="http://schemas.microsoft.com/office/drawing/2014/main" id="{C3680508-5651-AD85-EE3A-1F4D4CD4187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26226" y="370902"/>
            <a:ext cx="6236947" cy="9355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26711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66</TotalTime>
  <Words>206</Words>
  <Application>Microsoft Office PowerPoint</Application>
  <PresentationFormat>Personnalisé</PresentationFormat>
  <Paragraphs>49</Paragraphs>
  <Slides>8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8</vt:i4>
      </vt:variant>
    </vt:vector>
  </HeadingPairs>
  <TitlesOfParts>
    <vt:vector size="15" baseType="lpstr">
      <vt:lpstr>Fira Sans Bold</vt:lpstr>
      <vt:lpstr>Calibri</vt:lpstr>
      <vt:lpstr>Fira Sans</vt:lpstr>
      <vt:lpstr>Arial</vt:lpstr>
      <vt:lpstr>Helios Extended</vt:lpstr>
      <vt:lpstr>Fira Sans Light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- Plateforme d'Apprentissage</dc:title>
  <dc:description>Présentation - Plateforme d'Apprentissage</dc:description>
  <cp:lastModifiedBy>KENNY</cp:lastModifiedBy>
  <cp:revision>4</cp:revision>
  <dcterms:created xsi:type="dcterms:W3CDTF">2006-08-16T00:00:00Z</dcterms:created>
  <dcterms:modified xsi:type="dcterms:W3CDTF">2025-12-20T06:28:30Z</dcterms:modified>
  <dc:identifier>DAG8AvwxFH0</dc:identifier>
</cp:coreProperties>
</file>